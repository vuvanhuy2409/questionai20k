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Freeform 3"/>
          <p:cNvSpPr/>
          <p:nvPr/>
        </p:nvSpPr>
        <p:spPr>
          <a:xfrm>
            <a:off x="2091256" y="2447814"/>
            <a:ext cx="15876431" cy="539137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Freeform 4"/>
          <p:cNvSpPr/>
          <p:nvPr/>
        </p:nvSpPr>
        <p:spPr>
          <a:xfrm>
            <a:off x="0" y="0"/>
            <a:ext cx="18288000" cy="44958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Freeform 5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Freeform 6"/>
          <p:cNvSpPr/>
          <p:nvPr/>
        </p:nvSpPr>
        <p:spPr>
          <a:xfrm>
            <a:off x="1361004" y="791744"/>
            <a:ext cx="15565992" cy="9495257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Freeform 7"/>
          <p:cNvSpPr/>
          <p:nvPr/>
        </p:nvSpPr>
        <p:spPr>
          <a:xfrm>
            <a:off x="2615703" y="2644694"/>
            <a:ext cx="13056594" cy="1577364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Freeform 8"/>
          <p:cNvSpPr/>
          <p:nvPr/>
        </p:nvSpPr>
        <p:spPr>
          <a:xfrm>
            <a:off x="2308907" y="4379667"/>
            <a:ext cx="13670186" cy="763834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Freeform 10"/>
          <p:cNvSpPr/>
          <p:nvPr/>
        </p:nvSpPr>
        <p:spPr>
          <a:xfrm>
            <a:off x="9562051" y="1028700"/>
            <a:ext cx="1425174" cy="855105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Freeform 12"/>
          <p:cNvSpPr/>
          <p:nvPr/>
        </p:nvSpPr>
        <p:spPr>
          <a:xfrm>
            <a:off x="7300776" y="1028700"/>
            <a:ext cx="1482181" cy="893109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Box 13"/>
          <p:cNvSpPr txBox="1"/>
          <p:nvPr/>
        </p:nvSpPr>
        <p:spPr>
          <a:xfrm>
            <a:off x="3603491" y="7318247"/>
            <a:ext cx="113385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AICB-P1  ·  NGÀY 12  ·  VINUNIVERSITY 2026</a:t>
            </a:r>
          </a:p>
        </p:txBody>
      </p:sp>
      <p:sp>
        <p:nvSpPr>
          <p:cNvPr id="104" name="TextBox 14"/>
          <p:cNvSpPr txBox="1"/>
          <p:nvPr/>
        </p:nvSpPr>
        <p:spPr>
          <a:xfrm>
            <a:off x="3603491" y="5301110"/>
            <a:ext cx="11338561" cy="1132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6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DEPLOYMENT</a:t>
            </a:r>
          </a:p>
        </p:txBody>
      </p:sp>
      <p:sp>
        <p:nvSpPr>
          <p:cNvPr id="105" name="TextBox 15"/>
          <p:cNvSpPr txBox="1"/>
          <p:nvPr/>
        </p:nvSpPr>
        <p:spPr>
          <a:xfrm>
            <a:off x="3603491" y="6323394"/>
            <a:ext cx="113385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Đưa Agent Lên Cloud</a:t>
            </a:r>
          </a:p>
        </p:txBody>
      </p:sp>
      <p:sp>
        <p:nvSpPr>
          <p:cNvPr id="106" name="TextBox 16"/>
          <p:cNvSpPr txBox="1"/>
          <p:nvPr/>
        </p:nvSpPr>
        <p:spPr>
          <a:xfrm>
            <a:off x="3603491" y="6961630"/>
            <a:ext cx="11338561" cy="34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1700"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Từ  localhost  →  production URL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Freeform 5"/>
          <p:cNvSpPr/>
          <p:nvPr/>
        </p:nvSpPr>
        <p:spPr>
          <a:xfrm>
            <a:off x="1045310" y="1363590"/>
            <a:ext cx="5440821" cy="72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Box 10"/>
          <p:cNvSpPr txBox="1"/>
          <p:nvPr/>
        </p:nvSpPr>
        <p:spPr>
          <a:xfrm>
            <a:off x="1159610" y="1389888"/>
            <a:ext cx="12710161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Hãy Suy Nghĩ...</a:t>
            </a:r>
          </a:p>
        </p:txBody>
      </p:sp>
      <p:sp>
        <p:nvSpPr>
          <p:cNvPr id="114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Rectangle 12"/>
          <p:cNvSpPr/>
          <p:nvPr/>
        </p:nvSpPr>
        <p:spPr>
          <a:xfrm>
            <a:off x="2286000" y="2834639"/>
            <a:ext cx="13716000" cy="3474722"/>
          </a:xfrm>
          <a:prstGeom prst="rect">
            <a:avLst/>
          </a:prstGeom>
          <a:solidFill>
            <a:srgbClr val="0A1F3A"/>
          </a:solidFill>
          <a:ln w="3175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13"/>
          <p:cNvSpPr txBox="1"/>
          <p:nvPr/>
        </p:nvSpPr>
        <p:spPr>
          <a:xfrm>
            <a:off x="2606040" y="2743200"/>
            <a:ext cx="457201" cy="1183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7200">
                <a:solidFill>
                  <a:srgbClr val="4FC3F7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"</a:t>
            </a:r>
          </a:p>
        </p:txBody>
      </p:sp>
      <p:sp>
        <p:nvSpPr>
          <p:cNvPr id="117" name="TextBox 14"/>
          <p:cNvSpPr txBox="1"/>
          <p:nvPr/>
        </p:nvSpPr>
        <p:spPr>
          <a:xfrm>
            <a:off x="2971800" y="3200400"/>
            <a:ext cx="12252960" cy="103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40000"/>
              </a:lnSpc>
              <a:defRPr sz="2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Bạn demo cho sếp thấy agent chạy trên laptop.</a:t>
            </a:r>
          </a:p>
          <a:p>
            <a:pPr>
              <a:lnSpc>
                <a:spcPct val="140000"/>
              </a:lnSpc>
              <a:defRPr sz="2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Sếp hỏi: khi nào 100 người dùng được?</a:t>
            </a:r>
          </a:p>
        </p:txBody>
      </p:sp>
      <p:sp>
        <p:nvSpPr>
          <p:cNvPr id="118" name="TextBox 15"/>
          <p:cNvSpPr txBox="1"/>
          <p:nvPr/>
        </p:nvSpPr>
        <p:spPr>
          <a:xfrm>
            <a:off x="3246120" y="5989320"/>
            <a:ext cx="11795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Giữ câu hỏi này trong đầu khi học bài hôm nay.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Freeform 5"/>
          <p:cNvSpPr/>
          <p:nvPr/>
        </p:nvSpPr>
        <p:spPr>
          <a:xfrm>
            <a:off x="1028699" y="1028700"/>
            <a:ext cx="5440822" cy="72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Box 10"/>
          <p:cNvSpPr txBox="1"/>
          <p:nvPr/>
        </p:nvSpPr>
        <p:spPr>
          <a:xfrm>
            <a:off x="1126389" y="1054997"/>
            <a:ext cx="12710161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Nội Dung Bài Học</a:t>
            </a:r>
          </a:p>
        </p:txBody>
      </p:sp>
      <p:sp>
        <p:nvSpPr>
          <p:cNvPr id="126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Rectangle 12"/>
          <p:cNvSpPr/>
          <p:nvPr/>
        </p:nvSpPr>
        <p:spPr>
          <a:xfrm>
            <a:off x="1097280" y="2606039"/>
            <a:ext cx="7589519" cy="1234442"/>
          </a:xfrm>
          <a:prstGeom prst="rect">
            <a:avLst/>
          </a:prstGeom>
          <a:solidFill>
            <a:srgbClr val="1A2B3C"/>
          </a:solidFill>
          <a:ln w="1905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13"/>
          <p:cNvSpPr txBox="1"/>
          <p:nvPr/>
        </p:nvSpPr>
        <p:spPr>
          <a:xfrm>
            <a:off x="1280159" y="2862072"/>
            <a:ext cx="73152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800">
                <a:solidFill>
                  <a:srgbClr val="4FC3F7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01 </a:t>
            </a:r>
          </a:p>
        </p:txBody>
      </p:sp>
      <p:sp>
        <p:nvSpPr>
          <p:cNvPr id="129" name="TextBox 14"/>
          <p:cNvSpPr txBox="1"/>
          <p:nvPr/>
        </p:nvSpPr>
        <p:spPr>
          <a:xfrm>
            <a:off x="2011679" y="2926079"/>
            <a:ext cx="640080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9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Từ localhost đến production</a:t>
            </a:r>
          </a:p>
        </p:txBody>
      </p:sp>
      <p:sp>
        <p:nvSpPr>
          <p:cNvPr id="130" name="Rectangle 15"/>
          <p:cNvSpPr/>
          <p:nvPr/>
        </p:nvSpPr>
        <p:spPr>
          <a:xfrm>
            <a:off x="1097280" y="4087367"/>
            <a:ext cx="7589519" cy="1234442"/>
          </a:xfrm>
          <a:prstGeom prst="rect">
            <a:avLst/>
          </a:prstGeom>
          <a:solidFill>
            <a:srgbClr val="1A2B3C"/>
          </a:solidFill>
          <a:ln w="1905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16"/>
          <p:cNvSpPr txBox="1"/>
          <p:nvPr/>
        </p:nvSpPr>
        <p:spPr>
          <a:xfrm>
            <a:off x="1280159" y="4343400"/>
            <a:ext cx="731521" cy="523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800">
                <a:solidFill>
                  <a:srgbClr val="4FC3F7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02 </a:t>
            </a:r>
          </a:p>
        </p:txBody>
      </p:sp>
      <p:sp>
        <p:nvSpPr>
          <p:cNvPr id="132" name="TextBox 17"/>
          <p:cNvSpPr txBox="1"/>
          <p:nvPr/>
        </p:nvSpPr>
        <p:spPr>
          <a:xfrm>
            <a:off x="2011679" y="4407408"/>
            <a:ext cx="640080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9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Docker &amp; containerization</a:t>
            </a:r>
          </a:p>
        </p:txBody>
      </p:sp>
      <p:sp>
        <p:nvSpPr>
          <p:cNvPr id="133" name="Rectangle 18"/>
          <p:cNvSpPr/>
          <p:nvPr/>
        </p:nvSpPr>
        <p:spPr>
          <a:xfrm>
            <a:off x="1097280" y="5568696"/>
            <a:ext cx="7589519" cy="1234441"/>
          </a:xfrm>
          <a:prstGeom prst="rect">
            <a:avLst/>
          </a:prstGeom>
          <a:solidFill>
            <a:srgbClr val="1A2B3C"/>
          </a:solidFill>
          <a:ln w="1905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TextBox 19"/>
          <p:cNvSpPr txBox="1"/>
          <p:nvPr/>
        </p:nvSpPr>
        <p:spPr>
          <a:xfrm>
            <a:off x="1280159" y="5824728"/>
            <a:ext cx="73152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800">
                <a:solidFill>
                  <a:srgbClr val="4FC3F7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03 </a:t>
            </a:r>
          </a:p>
        </p:txBody>
      </p:sp>
      <p:sp>
        <p:nvSpPr>
          <p:cNvPr id="135" name="TextBox 20"/>
          <p:cNvSpPr txBox="1"/>
          <p:nvPr/>
        </p:nvSpPr>
        <p:spPr>
          <a:xfrm>
            <a:off x="2011679" y="5888735"/>
            <a:ext cx="640080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9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Cloud deployment options</a:t>
            </a:r>
          </a:p>
        </p:txBody>
      </p:sp>
      <p:sp>
        <p:nvSpPr>
          <p:cNvPr id="136" name="Rectangle 21"/>
          <p:cNvSpPr/>
          <p:nvPr/>
        </p:nvSpPr>
        <p:spPr>
          <a:xfrm>
            <a:off x="1097280" y="7050023"/>
            <a:ext cx="7589519" cy="1234441"/>
          </a:xfrm>
          <a:prstGeom prst="rect">
            <a:avLst/>
          </a:prstGeom>
          <a:solidFill>
            <a:srgbClr val="1A2B3C"/>
          </a:solidFill>
          <a:ln w="1905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22"/>
          <p:cNvSpPr txBox="1"/>
          <p:nvPr/>
        </p:nvSpPr>
        <p:spPr>
          <a:xfrm>
            <a:off x="1280159" y="7306056"/>
            <a:ext cx="73152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800">
                <a:solidFill>
                  <a:srgbClr val="4FC3F7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04 </a:t>
            </a:r>
          </a:p>
        </p:txBody>
      </p:sp>
      <p:sp>
        <p:nvSpPr>
          <p:cNvPr id="138" name="TextBox 23"/>
          <p:cNvSpPr txBox="1"/>
          <p:nvPr/>
        </p:nvSpPr>
        <p:spPr>
          <a:xfrm>
            <a:off x="2011679" y="7370064"/>
            <a:ext cx="640080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9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API gateway &amp; security</a:t>
            </a:r>
          </a:p>
        </p:txBody>
      </p:sp>
      <p:sp>
        <p:nvSpPr>
          <p:cNvPr id="139" name="Rectangle 24"/>
          <p:cNvSpPr/>
          <p:nvPr/>
        </p:nvSpPr>
        <p:spPr>
          <a:xfrm>
            <a:off x="9601200" y="2606039"/>
            <a:ext cx="7589519" cy="1234442"/>
          </a:xfrm>
          <a:prstGeom prst="rect">
            <a:avLst/>
          </a:prstGeom>
          <a:solidFill>
            <a:srgbClr val="1A2B3C"/>
          </a:solidFill>
          <a:ln w="190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25"/>
          <p:cNvSpPr txBox="1"/>
          <p:nvPr/>
        </p:nvSpPr>
        <p:spPr>
          <a:xfrm>
            <a:off x="9784079" y="2862072"/>
            <a:ext cx="73152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800">
                <a:solidFill>
                  <a:srgbClr val="81C784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05 </a:t>
            </a:r>
          </a:p>
        </p:txBody>
      </p:sp>
      <p:sp>
        <p:nvSpPr>
          <p:cNvPr id="141" name="TextBox 26"/>
          <p:cNvSpPr txBox="1"/>
          <p:nvPr/>
        </p:nvSpPr>
        <p:spPr>
          <a:xfrm>
            <a:off x="10515600" y="2926079"/>
            <a:ext cx="640080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9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Scaling &amp; reliability cơ bản</a:t>
            </a:r>
          </a:p>
        </p:txBody>
      </p:sp>
      <p:sp>
        <p:nvSpPr>
          <p:cNvPr id="142" name="Rectangle 27"/>
          <p:cNvSpPr/>
          <p:nvPr/>
        </p:nvSpPr>
        <p:spPr>
          <a:xfrm>
            <a:off x="9601200" y="4087367"/>
            <a:ext cx="7589519" cy="1234442"/>
          </a:xfrm>
          <a:prstGeom prst="rect">
            <a:avLst/>
          </a:prstGeom>
          <a:solidFill>
            <a:srgbClr val="1A2B3C"/>
          </a:solidFill>
          <a:ln w="190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28"/>
          <p:cNvSpPr txBox="1"/>
          <p:nvPr/>
        </p:nvSpPr>
        <p:spPr>
          <a:xfrm>
            <a:off x="9784079" y="4343400"/>
            <a:ext cx="731521" cy="523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800">
                <a:solidFill>
                  <a:srgbClr val="81C784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06 </a:t>
            </a:r>
          </a:p>
        </p:txBody>
      </p:sp>
      <p:sp>
        <p:nvSpPr>
          <p:cNvPr id="144" name="TextBox 29"/>
          <p:cNvSpPr txBox="1"/>
          <p:nvPr/>
        </p:nvSpPr>
        <p:spPr>
          <a:xfrm>
            <a:off x="10515600" y="4407408"/>
            <a:ext cx="640080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9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GitHub project walkthrough</a:t>
            </a:r>
          </a:p>
        </p:txBody>
      </p:sp>
      <p:sp>
        <p:nvSpPr>
          <p:cNvPr id="145" name="Rectangle 30"/>
          <p:cNvSpPr/>
          <p:nvPr/>
        </p:nvSpPr>
        <p:spPr>
          <a:xfrm>
            <a:off x="9601200" y="5568696"/>
            <a:ext cx="7589519" cy="1234441"/>
          </a:xfrm>
          <a:prstGeom prst="rect">
            <a:avLst/>
          </a:prstGeom>
          <a:solidFill>
            <a:srgbClr val="1A2B3C"/>
          </a:solidFill>
          <a:ln w="190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31"/>
          <p:cNvSpPr txBox="1"/>
          <p:nvPr/>
        </p:nvSpPr>
        <p:spPr>
          <a:xfrm>
            <a:off x="9784079" y="5824728"/>
            <a:ext cx="73152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800">
                <a:solidFill>
                  <a:srgbClr val="81C784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07 </a:t>
            </a:r>
          </a:p>
        </p:txBody>
      </p:sp>
      <p:sp>
        <p:nvSpPr>
          <p:cNvPr id="147" name="TextBox 32"/>
          <p:cNvSpPr txBox="1"/>
          <p:nvPr/>
        </p:nvSpPr>
        <p:spPr>
          <a:xfrm>
            <a:off x="10515600" y="5888735"/>
            <a:ext cx="640080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9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Lab 12 + deliverable</a:t>
            </a:r>
          </a:p>
        </p:txBody>
      </p:sp>
      <p:sp>
        <p:nvSpPr>
          <p:cNvPr id="148" name="Rectangle 33"/>
          <p:cNvSpPr/>
          <p:nvPr/>
        </p:nvSpPr>
        <p:spPr>
          <a:xfrm>
            <a:off x="9601200" y="7050023"/>
            <a:ext cx="7589519" cy="1234441"/>
          </a:xfrm>
          <a:prstGeom prst="rect">
            <a:avLst/>
          </a:prstGeom>
          <a:solidFill>
            <a:srgbClr val="1A2B3C"/>
          </a:solidFill>
          <a:ln w="190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TextBox 34"/>
          <p:cNvSpPr txBox="1"/>
          <p:nvPr/>
        </p:nvSpPr>
        <p:spPr>
          <a:xfrm>
            <a:off x="9784079" y="7306056"/>
            <a:ext cx="73152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800">
                <a:solidFill>
                  <a:srgbClr val="81C784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08 </a:t>
            </a:r>
          </a:p>
        </p:txBody>
      </p:sp>
      <p:sp>
        <p:nvSpPr>
          <p:cNvPr id="150" name="TextBox 35"/>
          <p:cNvSpPr txBox="1"/>
          <p:nvPr/>
        </p:nvSpPr>
        <p:spPr>
          <a:xfrm>
            <a:off x="10515600" y="7370064"/>
            <a:ext cx="640080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9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Preview Day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Freeform 5"/>
          <p:cNvSpPr/>
          <p:nvPr/>
        </p:nvSpPr>
        <p:spPr>
          <a:xfrm>
            <a:off x="1028699" y="1028700"/>
            <a:ext cx="5440822" cy="72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Box 10"/>
          <p:cNvSpPr txBox="1"/>
          <p:nvPr/>
        </p:nvSpPr>
        <p:spPr>
          <a:xfrm>
            <a:off x="1159610" y="1054997"/>
            <a:ext cx="12710161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Mục Tiêu Ngày 12</a:t>
            </a:r>
          </a:p>
        </p:txBody>
      </p:sp>
      <p:sp>
        <p:nvSpPr>
          <p:cNvPr id="158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Rectangle 12"/>
          <p:cNvSpPr/>
          <p:nvPr/>
        </p:nvSpPr>
        <p:spPr>
          <a:xfrm>
            <a:off x="1097280" y="2514600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13"/>
          <p:cNvSpPr txBox="1"/>
          <p:nvPr/>
        </p:nvSpPr>
        <p:spPr>
          <a:xfrm>
            <a:off x="1170431" y="2551176"/>
            <a:ext cx="3291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1" name="TextBox 14"/>
          <p:cNvSpPr txBox="1"/>
          <p:nvPr/>
        </p:nvSpPr>
        <p:spPr>
          <a:xfrm>
            <a:off x="1783080" y="2514600"/>
            <a:ext cx="14538961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Hiểu gap dev → production: </a:t>
            </a:r>
            <a:r>
              <a:rPr b="0">
                <a:solidFill>
                  <a:srgbClr val="FFFEFF"/>
                </a:solidFill>
              </a:rPr>
              <a:t>dependencies, config, secrets, networking</a:t>
            </a:r>
          </a:p>
        </p:txBody>
      </p:sp>
      <p:sp>
        <p:nvSpPr>
          <p:cNvPr id="162" name="Rectangle 15"/>
          <p:cNvSpPr/>
          <p:nvPr/>
        </p:nvSpPr>
        <p:spPr>
          <a:xfrm>
            <a:off x="1097280" y="3977638"/>
            <a:ext cx="475488" cy="475489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16"/>
          <p:cNvSpPr txBox="1"/>
          <p:nvPr/>
        </p:nvSpPr>
        <p:spPr>
          <a:xfrm>
            <a:off x="1170431" y="4014215"/>
            <a:ext cx="3291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4" name="TextBox 17"/>
          <p:cNvSpPr txBox="1"/>
          <p:nvPr/>
        </p:nvSpPr>
        <p:spPr>
          <a:xfrm>
            <a:off x="1783080" y="3977638"/>
            <a:ext cx="145389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Viết Dockerfile đúng cách: </a:t>
            </a:r>
            <a:r>
              <a:rPr b="0">
                <a:solidFill>
                  <a:srgbClr val="FFFEFF"/>
                </a:solidFill>
              </a:rPr>
              <a:t>đóng gói agent thành container &lt; 500 MB</a:t>
            </a:r>
          </a:p>
        </p:txBody>
      </p:sp>
      <p:sp>
        <p:nvSpPr>
          <p:cNvPr id="165" name="Rectangle 18"/>
          <p:cNvSpPr/>
          <p:nvPr/>
        </p:nvSpPr>
        <p:spPr>
          <a:xfrm>
            <a:off x="1097280" y="5440679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TextBox 19"/>
          <p:cNvSpPr txBox="1"/>
          <p:nvPr/>
        </p:nvSpPr>
        <p:spPr>
          <a:xfrm>
            <a:off x="1170431" y="5477255"/>
            <a:ext cx="3291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7" name="TextBox 20"/>
          <p:cNvSpPr txBox="1"/>
          <p:nvPr/>
        </p:nvSpPr>
        <p:spPr>
          <a:xfrm>
            <a:off x="1783080" y="5440679"/>
            <a:ext cx="145389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So sánh cloud options: </a:t>
            </a:r>
            <a:r>
              <a:rPr b="0">
                <a:solidFill>
                  <a:srgbClr val="FFFEFF"/>
                </a:solidFill>
              </a:rPr>
              <a:t>Railway, Render, AWS ECS, Serverless</a:t>
            </a:r>
          </a:p>
        </p:txBody>
      </p:sp>
      <p:sp>
        <p:nvSpPr>
          <p:cNvPr id="168" name="Rectangle 21"/>
          <p:cNvSpPr/>
          <p:nvPr/>
        </p:nvSpPr>
        <p:spPr>
          <a:xfrm>
            <a:off x="1097280" y="6903719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22"/>
          <p:cNvSpPr txBox="1"/>
          <p:nvPr/>
        </p:nvSpPr>
        <p:spPr>
          <a:xfrm>
            <a:off x="1170431" y="6940295"/>
            <a:ext cx="3291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0" name="TextBox 23"/>
          <p:cNvSpPr txBox="1"/>
          <p:nvPr/>
        </p:nvSpPr>
        <p:spPr>
          <a:xfrm>
            <a:off x="1783080" y="6903719"/>
            <a:ext cx="145389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Thiết kế API gateway: </a:t>
            </a:r>
            <a:r>
              <a:rPr b="0">
                <a:solidFill>
                  <a:srgbClr val="FFFEFF"/>
                </a:solidFill>
              </a:rPr>
              <a:t>authentication, rate limiting, cost protection</a:t>
            </a:r>
          </a:p>
        </p:txBody>
      </p:sp>
      <p:sp>
        <p:nvSpPr>
          <p:cNvPr id="171" name="Rectangle 24"/>
          <p:cNvSpPr/>
          <p:nvPr/>
        </p:nvSpPr>
        <p:spPr>
          <a:xfrm>
            <a:off x="1097280" y="8366759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25"/>
          <p:cNvSpPr txBox="1"/>
          <p:nvPr/>
        </p:nvSpPr>
        <p:spPr>
          <a:xfrm>
            <a:off x="1170431" y="8403335"/>
            <a:ext cx="3291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3" name="TextBox 26"/>
          <p:cNvSpPr txBox="1"/>
          <p:nvPr/>
        </p:nvSpPr>
        <p:spPr>
          <a:xfrm>
            <a:off x="1783080" y="8366759"/>
            <a:ext cx="145389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Deploy lên cloud: </a:t>
            </a:r>
            <a:r>
              <a:rPr b="0">
                <a:solidFill>
                  <a:srgbClr val="FFFEFF"/>
                </a:solidFill>
              </a:rPr>
              <a:t>agent có public URL ho</a:t>
            </a:r>
            <a:r>
              <a:rPr b="0">
                <a:solidFill>
                  <a:srgbClr val="FFFEFF"/>
                </a:solidFill>
              </a:rPr>
              <a:t>ạ</a:t>
            </a:r>
            <a:r>
              <a:rPr b="0">
                <a:solidFill>
                  <a:srgbClr val="FFFEFF"/>
                </a:solidFill>
              </a:rPr>
              <a:t>t đ</a:t>
            </a:r>
            <a:r>
              <a:rPr b="0">
                <a:solidFill>
                  <a:srgbClr val="FFFEFF"/>
                </a:solidFill>
              </a:rPr>
              <a:t>ộ</a:t>
            </a:r>
            <a:r>
              <a:rPr b="0">
                <a:solidFill>
                  <a:srgbClr val="FFFEFF"/>
                </a:solidFill>
              </a:rPr>
              <a:t>ng đư</a:t>
            </a:r>
            <a:r>
              <a:rPr b="0">
                <a:solidFill>
                  <a:srgbClr val="FFFEFF"/>
                </a:solidFill>
              </a:rPr>
              <a:t>ợ</a:t>
            </a:r>
            <a:r>
              <a:rPr b="0">
                <a:solidFill>
                  <a:srgbClr val="FFFEFF"/>
                </a:solidFill>
              </a:rPr>
              <a:t>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Freeform 5"/>
          <p:cNvSpPr/>
          <p:nvPr/>
        </p:nvSpPr>
        <p:spPr>
          <a:xfrm>
            <a:off x="1028699" y="1028700"/>
            <a:ext cx="5440822" cy="72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Box 10"/>
          <p:cNvSpPr txBox="1"/>
          <p:nvPr/>
        </p:nvSpPr>
        <p:spPr>
          <a:xfrm>
            <a:off x="1143000" y="1086057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Deliverable Cuối Ngày</a:t>
            </a:r>
          </a:p>
        </p:txBody>
      </p:sp>
      <p:sp>
        <p:nvSpPr>
          <p:cNvPr id="181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Rectangle 12"/>
          <p:cNvSpPr/>
          <p:nvPr/>
        </p:nvSpPr>
        <p:spPr>
          <a:xfrm>
            <a:off x="1097279" y="2331720"/>
            <a:ext cx="16093441" cy="804673"/>
          </a:xfrm>
          <a:prstGeom prst="rect">
            <a:avLst/>
          </a:prstGeom>
          <a:solidFill>
            <a:srgbClr val="0A2A3D"/>
          </a:solidFill>
          <a:ln w="254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13"/>
          <p:cNvSpPr txBox="1"/>
          <p:nvPr/>
        </p:nvSpPr>
        <p:spPr>
          <a:xfrm>
            <a:off x="1280159" y="2423160"/>
            <a:ext cx="157276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C8F7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Agent đã được containerize và deploy lên cloud, có health check endpoint, basic authentication, và accessible qua public URL</a:t>
            </a:r>
          </a:p>
        </p:txBody>
      </p:sp>
      <p:sp>
        <p:nvSpPr>
          <p:cNvPr id="184" name="Rectangle 14"/>
          <p:cNvSpPr/>
          <p:nvPr/>
        </p:nvSpPr>
        <p:spPr>
          <a:xfrm>
            <a:off x="1097280" y="3337559"/>
            <a:ext cx="5257801" cy="3474721"/>
          </a:xfrm>
          <a:prstGeom prst="rect">
            <a:avLst/>
          </a:prstGeom>
          <a:solidFill>
            <a:srgbClr val="1A2B3C"/>
          </a:solidFill>
          <a:ln w="190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15"/>
          <p:cNvSpPr txBox="1"/>
          <p:nvPr/>
        </p:nvSpPr>
        <p:spPr>
          <a:xfrm>
            <a:off x="1280159" y="3447288"/>
            <a:ext cx="48920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Container</a:t>
            </a:r>
          </a:p>
        </p:txBody>
      </p:sp>
      <p:sp>
        <p:nvSpPr>
          <p:cNvPr id="186" name="TextBox 16"/>
          <p:cNvSpPr txBox="1"/>
          <p:nvPr/>
        </p:nvSpPr>
        <p:spPr>
          <a:xfrm>
            <a:off x="1280159" y="3813047"/>
            <a:ext cx="4892040" cy="847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Dockerfile (multi-stage, &lt; 500 MB)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docker-compose.yml + .dockerignore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Health check endpoint /health</a:t>
            </a:r>
          </a:p>
        </p:txBody>
      </p:sp>
      <p:sp>
        <p:nvSpPr>
          <p:cNvPr id="187" name="Rectangle 17"/>
          <p:cNvSpPr/>
          <p:nvPr/>
        </p:nvSpPr>
        <p:spPr>
          <a:xfrm>
            <a:off x="6675119" y="3337559"/>
            <a:ext cx="5257801" cy="3474721"/>
          </a:xfrm>
          <a:prstGeom prst="rect">
            <a:avLst/>
          </a:prstGeom>
          <a:solidFill>
            <a:srgbClr val="1A2B3C"/>
          </a:solidFill>
          <a:ln w="1905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18"/>
          <p:cNvSpPr txBox="1"/>
          <p:nvPr/>
        </p:nvSpPr>
        <p:spPr>
          <a:xfrm>
            <a:off x="6858000" y="3447288"/>
            <a:ext cx="48920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Deployment</a:t>
            </a:r>
          </a:p>
        </p:txBody>
      </p:sp>
      <p:sp>
        <p:nvSpPr>
          <p:cNvPr id="189" name="TextBox 19"/>
          <p:cNvSpPr txBox="1"/>
          <p:nvPr/>
        </p:nvSpPr>
        <p:spPr>
          <a:xfrm>
            <a:off x="6858000" y="3813047"/>
            <a:ext cx="4892040" cy="847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Deployed instance: Railway / Render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Env vars đúng cách (không hardcode)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Basic auth (API key header)</a:t>
            </a:r>
          </a:p>
        </p:txBody>
      </p:sp>
      <p:sp>
        <p:nvSpPr>
          <p:cNvPr id="190" name="Rectangle 20"/>
          <p:cNvSpPr/>
          <p:nvPr/>
        </p:nvSpPr>
        <p:spPr>
          <a:xfrm>
            <a:off x="12252959" y="3337559"/>
            <a:ext cx="5257801" cy="3474721"/>
          </a:xfrm>
          <a:prstGeom prst="rect">
            <a:avLst/>
          </a:prstGeom>
          <a:solidFill>
            <a:srgbClr val="1A2B3C"/>
          </a:solidFill>
          <a:ln w="1905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TextBox 21"/>
          <p:cNvSpPr txBox="1"/>
          <p:nvPr/>
        </p:nvSpPr>
        <p:spPr>
          <a:xfrm>
            <a:off x="12435838" y="3447288"/>
            <a:ext cx="48920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Demo</a:t>
            </a:r>
          </a:p>
        </p:txBody>
      </p:sp>
      <p:sp>
        <p:nvSpPr>
          <p:cNvPr id="192" name="TextBox 22"/>
          <p:cNvSpPr txBox="1"/>
          <p:nvPr/>
        </p:nvSpPr>
        <p:spPr>
          <a:xfrm>
            <a:off x="12435838" y="3813047"/>
            <a:ext cx="4892041" cy="927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Public URL ai cũng truy cập được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Request → Response hoạt động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Production readiness check 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Freeform 3"/>
          <p:cNvSpPr/>
          <p:nvPr/>
        </p:nvSpPr>
        <p:spPr>
          <a:xfrm>
            <a:off x="0" y="-177933"/>
            <a:ext cx="18288000" cy="44958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Freeform 4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Freeform 5"/>
          <p:cNvSpPr/>
          <p:nvPr/>
        </p:nvSpPr>
        <p:spPr>
          <a:xfrm>
            <a:off x="13422238" y="8762217"/>
            <a:ext cx="4106320" cy="49608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Freeform 6"/>
          <p:cNvSpPr/>
          <p:nvPr/>
        </p:nvSpPr>
        <p:spPr>
          <a:xfrm>
            <a:off x="12390119" y="9396590"/>
            <a:ext cx="5138438" cy="28711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AutoShape 9"/>
          <p:cNvSpPr/>
          <p:nvPr/>
        </p:nvSpPr>
        <p:spPr>
          <a:xfrm>
            <a:off x="4723868" y="2423421"/>
            <a:ext cx="7666252" cy="1"/>
          </a:xfrm>
          <a:prstGeom prst="line">
            <a:avLst/>
          </a:prstGeom>
          <a:ln w="38100">
            <a:solidFill>
              <a:srgbClr val="A6A6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Box 9"/>
          <p:cNvSpPr txBox="1"/>
          <p:nvPr/>
        </p:nvSpPr>
        <p:spPr>
          <a:xfrm>
            <a:off x="1143000" y="2011679"/>
            <a:ext cx="3566160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0000">
                <a:solidFill>
                  <a:srgbClr val="4FC3F7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01" name="TextBox 10"/>
          <p:cNvSpPr txBox="1"/>
          <p:nvPr/>
        </p:nvSpPr>
        <p:spPr>
          <a:xfrm>
            <a:off x="4617720" y="2834639"/>
            <a:ext cx="12252960" cy="1823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0000"/>
              </a:lnSpc>
              <a:defRPr sz="52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pPr>
            <a:r>
              <a:t>TỪ LOCALHOST</a:t>
            </a:r>
          </a:p>
          <a:p>
            <a:pPr>
              <a:lnSpc>
                <a:spcPct val="120000"/>
              </a:lnSpc>
              <a:defRPr sz="52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pPr>
            <a:r>
              <a:t>ĐẾN PRODUCTION</a:t>
            </a:r>
          </a:p>
        </p:txBody>
      </p:sp>
      <p:sp>
        <p:nvSpPr>
          <p:cNvPr id="202" name="TextBox 11"/>
          <p:cNvSpPr txBox="1"/>
          <p:nvPr/>
        </p:nvSpPr>
        <p:spPr>
          <a:xfrm>
            <a:off x="4617720" y="5074920"/>
            <a:ext cx="12252960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0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Agent chạy trên máy mình ≠ Agent chạy cho 100 người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Freeform 5"/>
          <p:cNvSpPr/>
          <p:nvPr/>
        </p:nvSpPr>
        <p:spPr>
          <a:xfrm>
            <a:off x="1028699" y="1028699"/>
            <a:ext cx="7551830" cy="728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Box 10"/>
          <p:cNvSpPr txBox="1"/>
          <p:nvPr/>
        </p:nvSpPr>
        <p:spPr>
          <a:xfrm>
            <a:off x="1126389" y="1054997"/>
            <a:ext cx="12710161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Recap: "It Works On My Machine"</a:t>
            </a:r>
          </a:p>
        </p:txBody>
      </p:sp>
      <p:sp>
        <p:nvSpPr>
          <p:cNvPr id="210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Rectangle 12"/>
          <p:cNvSpPr/>
          <p:nvPr/>
        </p:nvSpPr>
        <p:spPr>
          <a:xfrm>
            <a:off x="1097280" y="2514600"/>
            <a:ext cx="7680960" cy="5212080"/>
          </a:xfrm>
          <a:prstGeom prst="rect">
            <a:avLst/>
          </a:prstGeom>
          <a:solidFill>
            <a:srgbClr val="1A2B3C"/>
          </a:solidFill>
          <a:ln w="190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13"/>
          <p:cNvSpPr txBox="1"/>
          <p:nvPr/>
        </p:nvSpPr>
        <p:spPr>
          <a:xfrm>
            <a:off x="1280158" y="2624327"/>
            <a:ext cx="731520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11 Ngày Đã Build</a:t>
            </a:r>
          </a:p>
        </p:txBody>
      </p:sp>
      <p:sp>
        <p:nvSpPr>
          <p:cNvPr id="213" name="TextBox 14"/>
          <p:cNvSpPr txBox="1"/>
          <p:nvPr/>
        </p:nvSpPr>
        <p:spPr>
          <a:xfrm>
            <a:off x="1280158" y="3222632"/>
            <a:ext cx="3308408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LLM API + prompt engineering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RAG pipeline grounded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Multi-agent + MCP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UX + trust layer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Guardrails + safety</a:t>
            </a:r>
          </a:p>
        </p:txBody>
      </p:sp>
      <p:sp>
        <p:nvSpPr>
          <p:cNvPr id="214" name="Rectangle 15"/>
          <p:cNvSpPr/>
          <p:nvPr/>
        </p:nvSpPr>
        <p:spPr>
          <a:xfrm>
            <a:off x="9509759" y="2514600"/>
            <a:ext cx="7680961" cy="5212080"/>
          </a:xfrm>
          <a:prstGeom prst="rect">
            <a:avLst/>
          </a:prstGeom>
          <a:solidFill>
            <a:srgbClr val="2A1010"/>
          </a:solidFill>
          <a:ln w="1905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16"/>
          <p:cNvSpPr txBox="1"/>
          <p:nvPr/>
        </p:nvSpPr>
        <p:spPr>
          <a:xfrm>
            <a:off x="9692639" y="2624327"/>
            <a:ext cx="731520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⚠️  Nhưng Đang Chạy Trên...</a:t>
            </a:r>
          </a:p>
        </p:txBody>
      </p:sp>
      <p:sp>
        <p:nvSpPr>
          <p:cNvPr id="216" name="TextBox 17"/>
          <p:cNvSpPr txBox="1"/>
          <p:nvPr/>
        </p:nvSpPr>
        <p:spPr>
          <a:xfrm>
            <a:off x="9692639" y="3222632"/>
            <a:ext cx="7315201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localhost:8000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7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API keys trong .env file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7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Chỉ 1 user (chính mình)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7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Không health check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7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Tắt laptop = agent chết</a:t>
            </a:r>
          </a:p>
        </p:txBody>
      </p:sp>
      <p:sp>
        <p:nvSpPr>
          <p:cNvPr id="217" name="Rectangle 18"/>
          <p:cNvSpPr/>
          <p:nvPr/>
        </p:nvSpPr>
        <p:spPr>
          <a:xfrm>
            <a:off x="1097279" y="7909559"/>
            <a:ext cx="16093441" cy="658369"/>
          </a:xfrm>
          <a:prstGeom prst="rect">
            <a:avLst/>
          </a:prstGeom>
          <a:solidFill>
            <a:srgbClr val="0A2A3D"/>
          </a:solidFill>
          <a:ln w="2540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19"/>
          <p:cNvSpPr txBox="1"/>
          <p:nvPr/>
        </p:nvSpPr>
        <p:spPr>
          <a:xfrm>
            <a:off x="1280159" y="8001000"/>
            <a:ext cx="15727681" cy="408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📌  "It works on my machine" — câu nói nổi tiếng nhất lịch sử software engineering. Day 12 giải quyết đúng vấn đề này.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Freeform 5"/>
          <p:cNvSpPr/>
          <p:nvPr/>
        </p:nvSpPr>
        <p:spPr>
          <a:xfrm>
            <a:off x="1028699" y="1028700"/>
            <a:ext cx="7152142" cy="72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Box 10"/>
          <p:cNvSpPr txBox="1"/>
          <p:nvPr/>
        </p:nvSpPr>
        <p:spPr>
          <a:xfrm>
            <a:off x="1143000" y="1054997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Dev Environment  ≠  Production</a:t>
            </a:r>
          </a:p>
        </p:txBody>
      </p:sp>
      <p:sp>
        <p:nvSpPr>
          <p:cNvPr id="226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Rectangle 12"/>
          <p:cNvSpPr/>
          <p:nvPr/>
        </p:nvSpPr>
        <p:spPr>
          <a:xfrm>
            <a:off x="1097280" y="2423160"/>
            <a:ext cx="4114801" cy="530353"/>
          </a:xfrm>
          <a:prstGeom prst="rect">
            <a:avLst/>
          </a:prstGeom>
          <a:solidFill>
            <a:srgbClr val="1A2B3C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TextBox 13"/>
          <p:cNvSpPr txBox="1"/>
          <p:nvPr/>
        </p:nvSpPr>
        <p:spPr>
          <a:xfrm>
            <a:off x="1234439" y="2514600"/>
            <a:ext cx="384048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Khía cạnh</a:t>
            </a:r>
          </a:p>
        </p:txBody>
      </p:sp>
      <p:sp>
        <p:nvSpPr>
          <p:cNvPr id="229" name="Rectangle 14"/>
          <p:cNvSpPr/>
          <p:nvPr/>
        </p:nvSpPr>
        <p:spPr>
          <a:xfrm>
            <a:off x="5349240" y="2423160"/>
            <a:ext cx="5943601" cy="530353"/>
          </a:xfrm>
          <a:prstGeom prst="rect">
            <a:avLst/>
          </a:prstGeom>
          <a:solidFill>
            <a:srgbClr val="0A3050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15"/>
          <p:cNvSpPr txBox="1"/>
          <p:nvPr/>
        </p:nvSpPr>
        <p:spPr>
          <a:xfrm>
            <a:off x="5486399" y="2425700"/>
            <a:ext cx="5669281" cy="434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Dev  ❌</a:t>
            </a:r>
          </a:p>
        </p:txBody>
      </p:sp>
      <p:sp>
        <p:nvSpPr>
          <p:cNvPr id="231" name="Rectangle 16"/>
          <p:cNvSpPr/>
          <p:nvPr/>
        </p:nvSpPr>
        <p:spPr>
          <a:xfrm>
            <a:off x="11430000" y="2423160"/>
            <a:ext cx="5943600" cy="530353"/>
          </a:xfrm>
          <a:prstGeom prst="rect">
            <a:avLst/>
          </a:prstGeom>
          <a:solidFill>
            <a:srgbClr val="0A3050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2" name="TextBox 17"/>
          <p:cNvSpPr txBox="1"/>
          <p:nvPr/>
        </p:nvSpPr>
        <p:spPr>
          <a:xfrm>
            <a:off x="11567159" y="2425700"/>
            <a:ext cx="5669281" cy="434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Production  ✅</a:t>
            </a:r>
          </a:p>
        </p:txBody>
      </p:sp>
      <p:sp>
        <p:nvSpPr>
          <p:cNvPr id="233" name="Rectangle 18"/>
          <p:cNvSpPr/>
          <p:nvPr/>
        </p:nvSpPr>
        <p:spPr>
          <a:xfrm>
            <a:off x="1097280" y="2999232"/>
            <a:ext cx="4114801" cy="914401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19"/>
          <p:cNvSpPr txBox="1"/>
          <p:nvPr/>
        </p:nvSpPr>
        <p:spPr>
          <a:xfrm>
            <a:off x="1280159" y="3200400"/>
            <a:ext cx="3749040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Dependencies</a:t>
            </a:r>
          </a:p>
        </p:txBody>
      </p:sp>
      <p:sp>
        <p:nvSpPr>
          <p:cNvPr id="235" name="Rectangle 20"/>
          <p:cNvSpPr/>
          <p:nvPr/>
        </p:nvSpPr>
        <p:spPr>
          <a:xfrm>
            <a:off x="5349240" y="2999232"/>
            <a:ext cx="5943601" cy="914401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TextBox 21"/>
          <p:cNvSpPr txBox="1"/>
          <p:nvPr/>
        </p:nvSpPr>
        <p:spPr>
          <a:xfrm>
            <a:off x="5532120" y="3200400"/>
            <a:ext cx="5577840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pip install thủ công</a:t>
            </a:r>
          </a:p>
        </p:txBody>
      </p:sp>
      <p:sp>
        <p:nvSpPr>
          <p:cNvPr id="237" name="Rectangle 22"/>
          <p:cNvSpPr/>
          <p:nvPr/>
        </p:nvSpPr>
        <p:spPr>
          <a:xfrm>
            <a:off x="11430000" y="2999232"/>
            <a:ext cx="5943600" cy="914401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23"/>
          <p:cNvSpPr txBox="1"/>
          <p:nvPr/>
        </p:nvSpPr>
        <p:spPr>
          <a:xfrm>
            <a:off x="11612879" y="3200400"/>
            <a:ext cx="557784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Đóng gói cùng container</a:t>
            </a:r>
          </a:p>
        </p:txBody>
      </p:sp>
      <p:sp>
        <p:nvSpPr>
          <p:cNvPr id="239" name="Rectangle 24"/>
          <p:cNvSpPr/>
          <p:nvPr/>
        </p:nvSpPr>
        <p:spPr>
          <a:xfrm>
            <a:off x="1097280" y="4005071"/>
            <a:ext cx="4114801" cy="914401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TextBox 25"/>
          <p:cNvSpPr txBox="1"/>
          <p:nvPr/>
        </p:nvSpPr>
        <p:spPr>
          <a:xfrm>
            <a:off x="1280159" y="4206240"/>
            <a:ext cx="374904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Config / Secrets</a:t>
            </a:r>
          </a:p>
        </p:txBody>
      </p:sp>
      <p:sp>
        <p:nvSpPr>
          <p:cNvPr id="241" name="Rectangle 26"/>
          <p:cNvSpPr/>
          <p:nvPr/>
        </p:nvSpPr>
        <p:spPr>
          <a:xfrm>
            <a:off x="5349240" y="4005071"/>
            <a:ext cx="5943601" cy="914401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27"/>
          <p:cNvSpPr txBox="1"/>
          <p:nvPr/>
        </p:nvSpPr>
        <p:spPr>
          <a:xfrm>
            <a:off x="5532120" y="4206240"/>
            <a:ext cx="557784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.env file trên máy</a:t>
            </a:r>
          </a:p>
        </p:txBody>
      </p:sp>
      <p:sp>
        <p:nvSpPr>
          <p:cNvPr id="243" name="Rectangle 28"/>
          <p:cNvSpPr/>
          <p:nvPr/>
        </p:nvSpPr>
        <p:spPr>
          <a:xfrm>
            <a:off x="11430000" y="4005071"/>
            <a:ext cx="5943600" cy="914401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extBox 29"/>
          <p:cNvSpPr txBox="1"/>
          <p:nvPr/>
        </p:nvSpPr>
        <p:spPr>
          <a:xfrm>
            <a:off x="11612879" y="4206240"/>
            <a:ext cx="55778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Env vars + secrets manager</a:t>
            </a:r>
          </a:p>
        </p:txBody>
      </p:sp>
      <p:sp>
        <p:nvSpPr>
          <p:cNvPr id="245" name="Rectangle 30"/>
          <p:cNvSpPr/>
          <p:nvPr/>
        </p:nvSpPr>
        <p:spPr>
          <a:xfrm>
            <a:off x="1097280" y="5010911"/>
            <a:ext cx="4114801" cy="914401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31"/>
          <p:cNvSpPr txBox="1"/>
          <p:nvPr/>
        </p:nvSpPr>
        <p:spPr>
          <a:xfrm>
            <a:off x="1280159" y="5212079"/>
            <a:ext cx="374904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Networking</a:t>
            </a:r>
          </a:p>
        </p:txBody>
      </p:sp>
      <p:sp>
        <p:nvSpPr>
          <p:cNvPr id="247" name="Rectangle 32"/>
          <p:cNvSpPr/>
          <p:nvPr/>
        </p:nvSpPr>
        <p:spPr>
          <a:xfrm>
            <a:off x="5349240" y="5010911"/>
            <a:ext cx="5943601" cy="914401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33"/>
          <p:cNvSpPr txBox="1"/>
          <p:nvPr/>
        </p:nvSpPr>
        <p:spPr>
          <a:xfrm>
            <a:off x="5532120" y="5212079"/>
            <a:ext cx="557784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localhost:8000</a:t>
            </a:r>
          </a:p>
        </p:txBody>
      </p:sp>
      <p:sp>
        <p:nvSpPr>
          <p:cNvPr id="249" name="Rectangle 34"/>
          <p:cNvSpPr/>
          <p:nvPr/>
        </p:nvSpPr>
        <p:spPr>
          <a:xfrm>
            <a:off x="11430000" y="5010911"/>
            <a:ext cx="5943600" cy="914401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35"/>
          <p:cNvSpPr txBox="1"/>
          <p:nvPr/>
        </p:nvSpPr>
        <p:spPr>
          <a:xfrm>
            <a:off x="11612879" y="5212079"/>
            <a:ext cx="55778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HTTPS, domain, load balancer</a:t>
            </a:r>
          </a:p>
        </p:txBody>
      </p:sp>
      <p:sp>
        <p:nvSpPr>
          <p:cNvPr id="251" name="Rectangle 36"/>
          <p:cNvSpPr/>
          <p:nvPr/>
        </p:nvSpPr>
        <p:spPr>
          <a:xfrm>
            <a:off x="1097280" y="6016752"/>
            <a:ext cx="4114801" cy="914401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37"/>
          <p:cNvSpPr txBox="1"/>
          <p:nvPr/>
        </p:nvSpPr>
        <p:spPr>
          <a:xfrm>
            <a:off x="1280159" y="6217920"/>
            <a:ext cx="374904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53" name="Rectangle 38"/>
          <p:cNvSpPr/>
          <p:nvPr/>
        </p:nvSpPr>
        <p:spPr>
          <a:xfrm>
            <a:off x="5349240" y="6016752"/>
            <a:ext cx="5943601" cy="914401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39"/>
          <p:cNvSpPr txBox="1"/>
          <p:nvPr/>
        </p:nvSpPr>
        <p:spPr>
          <a:xfrm>
            <a:off x="5532120" y="6217920"/>
            <a:ext cx="557784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1 (chính mình)</a:t>
            </a:r>
          </a:p>
        </p:txBody>
      </p:sp>
      <p:sp>
        <p:nvSpPr>
          <p:cNvPr id="255" name="Rectangle 40"/>
          <p:cNvSpPr/>
          <p:nvPr/>
        </p:nvSpPr>
        <p:spPr>
          <a:xfrm>
            <a:off x="11430000" y="6016752"/>
            <a:ext cx="5943600" cy="914401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41"/>
          <p:cNvSpPr txBox="1"/>
          <p:nvPr/>
        </p:nvSpPr>
        <p:spPr>
          <a:xfrm>
            <a:off x="11612879" y="6217920"/>
            <a:ext cx="55778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N users đồng thời</a:t>
            </a:r>
          </a:p>
        </p:txBody>
      </p:sp>
      <p:sp>
        <p:nvSpPr>
          <p:cNvPr id="257" name="Rectangle 42"/>
          <p:cNvSpPr/>
          <p:nvPr/>
        </p:nvSpPr>
        <p:spPr>
          <a:xfrm>
            <a:off x="1097280" y="7022592"/>
            <a:ext cx="4114801" cy="914401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TextBox 43"/>
          <p:cNvSpPr txBox="1"/>
          <p:nvPr/>
        </p:nvSpPr>
        <p:spPr>
          <a:xfrm>
            <a:off x="1280159" y="7223759"/>
            <a:ext cx="374904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Failure handling</a:t>
            </a:r>
          </a:p>
        </p:txBody>
      </p:sp>
      <p:sp>
        <p:nvSpPr>
          <p:cNvPr id="259" name="Rectangle 44"/>
          <p:cNvSpPr/>
          <p:nvPr/>
        </p:nvSpPr>
        <p:spPr>
          <a:xfrm>
            <a:off x="5349240" y="7022592"/>
            <a:ext cx="5943601" cy="914401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45"/>
          <p:cNvSpPr txBox="1"/>
          <p:nvPr/>
        </p:nvSpPr>
        <p:spPr>
          <a:xfrm>
            <a:off x="5532120" y="7223759"/>
            <a:ext cx="557784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Restart thủ công</a:t>
            </a:r>
          </a:p>
        </p:txBody>
      </p:sp>
      <p:sp>
        <p:nvSpPr>
          <p:cNvPr id="261" name="Rectangle 46"/>
          <p:cNvSpPr/>
          <p:nvPr/>
        </p:nvSpPr>
        <p:spPr>
          <a:xfrm>
            <a:off x="11430000" y="7022592"/>
            <a:ext cx="5943600" cy="914401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47"/>
          <p:cNvSpPr txBox="1"/>
          <p:nvPr/>
        </p:nvSpPr>
        <p:spPr>
          <a:xfrm>
            <a:off x="11612879" y="7223759"/>
            <a:ext cx="55778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Auto-restart + health check</a:t>
            </a:r>
          </a:p>
        </p:txBody>
      </p:sp>
      <p:sp>
        <p:nvSpPr>
          <p:cNvPr id="263" name="Rectangle 48"/>
          <p:cNvSpPr/>
          <p:nvPr/>
        </p:nvSpPr>
        <p:spPr>
          <a:xfrm>
            <a:off x="1097280" y="8028430"/>
            <a:ext cx="4114801" cy="914401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49"/>
          <p:cNvSpPr txBox="1"/>
          <p:nvPr/>
        </p:nvSpPr>
        <p:spPr>
          <a:xfrm>
            <a:off x="1280159" y="8229600"/>
            <a:ext cx="3749040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Logging</a:t>
            </a:r>
          </a:p>
        </p:txBody>
      </p:sp>
      <p:sp>
        <p:nvSpPr>
          <p:cNvPr id="265" name="Rectangle 50"/>
          <p:cNvSpPr/>
          <p:nvPr/>
        </p:nvSpPr>
        <p:spPr>
          <a:xfrm>
            <a:off x="5349240" y="8028430"/>
            <a:ext cx="5943601" cy="914401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TextBox 51"/>
          <p:cNvSpPr txBox="1"/>
          <p:nvPr/>
        </p:nvSpPr>
        <p:spPr>
          <a:xfrm>
            <a:off x="5532120" y="8229600"/>
            <a:ext cx="5577840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print() statements</a:t>
            </a:r>
          </a:p>
        </p:txBody>
      </p:sp>
      <p:sp>
        <p:nvSpPr>
          <p:cNvPr id="267" name="Rectangle 52"/>
          <p:cNvSpPr/>
          <p:nvPr/>
        </p:nvSpPr>
        <p:spPr>
          <a:xfrm>
            <a:off x="11430000" y="8028430"/>
            <a:ext cx="5943600" cy="914401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TextBox 53"/>
          <p:cNvSpPr txBox="1"/>
          <p:nvPr/>
        </p:nvSpPr>
        <p:spPr>
          <a:xfrm>
            <a:off x="11612879" y="8229600"/>
            <a:ext cx="557784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Structured JSON logs</a:t>
            </a:r>
          </a:p>
        </p:txBody>
      </p:sp>
      <p:sp>
        <p:nvSpPr>
          <p:cNvPr id="269" name="Rectangle 54"/>
          <p:cNvSpPr/>
          <p:nvPr/>
        </p:nvSpPr>
        <p:spPr>
          <a:xfrm>
            <a:off x="1097279" y="8887968"/>
            <a:ext cx="16093441" cy="566929"/>
          </a:xfrm>
          <a:prstGeom prst="rect">
            <a:avLst/>
          </a:prstGeom>
          <a:solidFill>
            <a:srgbClr val="0A2A3D"/>
          </a:solidFill>
          <a:ln w="254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TextBox 55"/>
          <p:cNvSpPr txBox="1"/>
          <p:nvPr/>
        </p:nvSpPr>
        <p:spPr>
          <a:xfrm>
            <a:off x="1280159" y="8979407"/>
            <a:ext cx="15727681" cy="323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Environment parity: dev/staging/prod càng giống nhau → càng ít bug khi deploy.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Freeform 5"/>
          <p:cNvSpPr/>
          <p:nvPr/>
        </p:nvSpPr>
        <p:spPr>
          <a:xfrm>
            <a:off x="1028699" y="1028699"/>
            <a:ext cx="8908752" cy="728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Box 10"/>
          <p:cNvSpPr txBox="1"/>
          <p:nvPr/>
        </p:nvSpPr>
        <p:spPr>
          <a:xfrm>
            <a:off x="1097279" y="1054997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12-Factor App — Áp Dụng Cho AI Agent</a:t>
            </a:r>
          </a:p>
        </p:txBody>
      </p:sp>
      <p:sp>
        <p:nvSpPr>
          <p:cNvPr id="278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Rectangle 12"/>
          <p:cNvSpPr/>
          <p:nvPr/>
        </p:nvSpPr>
        <p:spPr>
          <a:xfrm>
            <a:off x="1097280" y="2560320"/>
            <a:ext cx="3840480" cy="3291841"/>
          </a:xfrm>
          <a:prstGeom prst="rect">
            <a:avLst/>
          </a:prstGeom>
          <a:solidFill>
            <a:srgbClr val="1A2B3C"/>
          </a:solidFill>
          <a:ln w="254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TextBox 13"/>
          <p:cNvSpPr txBox="1"/>
          <p:nvPr/>
        </p:nvSpPr>
        <p:spPr>
          <a:xfrm>
            <a:off x="1252727" y="2670048"/>
            <a:ext cx="3657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600">
                <a:solidFill>
                  <a:srgbClr val="4FC3F7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1" name="TextBox 14"/>
          <p:cNvSpPr txBox="1"/>
          <p:nvPr/>
        </p:nvSpPr>
        <p:spPr>
          <a:xfrm>
            <a:off x="1488438" y="2797048"/>
            <a:ext cx="31089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Config in env</a:t>
            </a:r>
          </a:p>
        </p:txBody>
      </p:sp>
      <p:sp>
        <p:nvSpPr>
          <p:cNvPr id="282" name="TextBox 15"/>
          <p:cNvSpPr txBox="1"/>
          <p:nvPr/>
        </p:nvSpPr>
        <p:spPr>
          <a:xfrm>
            <a:off x="1280158" y="3246120"/>
            <a:ext cx="3474720" cy="658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Không hardcode API keys.</a:t>
            </a:r>
          </a:p>
          <a:p>
            <a:pPr>
              <a:lnSpc>
                <a:spcPct val="135000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Dùng os.getenv() cho mọi config.</a:t>
            </a:r>
          </a:p>
        </p:txBody>
      </p:sp>
      <p:sp>
        <p:nvSpPr>
          <p:cNvPr id="283" name="Rectangle 16"/>
          <p:cNvSpPr/>
          <p:nvPr/>
        </p:nvSpPr>
        <p:spPr>
          <a:xfrm>
            <a:off x="5303520" y="2560320"/>
            <a:ext cx="3840480" cy="3291841"/>
          </a:xfrm>
          <a:prstGeom prst="rect">
            <a:avLst/>
          </a:prstGeom>
          <a:solidFill>
            <a:srgbClr val="1A2B3C"/>
          </a:solidFill>
          <a:ln w="254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TextBox 17"/>
          <p:cNvSpPr txBox="1"/>
          <p:nvPr/>
        </p:nvSpPr>
        <p:spPr>
          <a:xfrm>
            <a:off x="5458967" y="2670048"/>
            <a:ext cx="3657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600">
                <a:solidFill>
                  <a:srgbClr val="81C784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5" name="TextBox 18"/>
          <p:cNvSpPr txBox="1"/>
          <p:nvPr/>
        </p:nvSpPr>
        <p:spPr>
          <a:xfrm>
            <a:off x="5770879" y="2797048"/>
            <a:ext cx="31089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Stateless processes</a:t>
            </a:r>
          </a:p>
        </p:txBody>
      </p:sp>
      <p:sp>
        <p:nvSpPr>
          <p:cNvPr id="286" name="TextBox 19"/>
          <p:cNvSpPr txBox="1"/>
          <p:nvPr/>
        </p:nvSpPr>
        <p:spPr>
          <a:xfrm>
            <a:off x="5486400" y="3246120"/>
            <a:ext cx="3474719" cy="658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Agent không giữ session</a:t>
            </a:r>
          </a:p>
          <a:p>
            <a:pPr>
              <a:lnSpc>
                <a:spcPct val="135000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trên instance memory.</a:t>
            </a:r>
          </a:p>
        </p:txBody>
      </p:sp>
      <p:sp>
        <p:nvSpPr>
          <p:cNvPr id="287" name="Rectangle 20"/>
          <p:cNvSpPr/>
          <p:nvPr/>
        </p:nvSpPr>
        <p:spPr>
          <a:xfrm>
            <a:off x="9509759" y="2560320"/>
            <a:ext cx="3840480" cy="3291841"/>
          </a:xfrm>
          <a:prstGeom prst="rect">
            <a:avLst/>
          </a:prstGeom>
          <a:solidFill>
            <a:srgbClr val="1A2B3C"/>
          </a:solidFill>
          <a:ln w="2540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21"/>
          <p:cNvSpPr txBox="1"/>
          <p:nvPr/>
        </p:nvSpPr>
        <p:spPr>
          <a:xfrm>
            <a:off x="9665206" y="2670048"/>
            <a:ext cx="3657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600">
                <a:solidFill>
                  <a:srgbClr val="FFB74D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89" name="TextBox 22"/>
          <p:cNvSpPr txBox="1"/>
          <p:nvPr/>
        </p:nvSpPr>
        <p:spPr>
          <a:xfrm>
            <a:off x="10027918" y="2784348"/>
            <a:ext cx="31089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Port binding</a:t>
            </a:r>
          </a:p>
        </p:txBody>
      </p:sp>
      <p:sp>
        <p:nvSpPr>
          <p:cNvPr id="290" name="TextBox 23"/>
          <p:cNvSpPr txBox="1"/>
          <p:nvPr/>
        </p:nvSpPr>
        <p:spPr>
          <a:xfrm>
            <a:off x="9692638" y="3246120"/>
            <a:ext cx="3474720" cy="658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Đọc PORT từ env var.</a:t>
            </a:r>
          </a:p>
          <a:p>
            <a:pPr>
              <a:lnSpc>
                <a:spcPct val="135000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Railway/Render inject tự động.</a:t>
            </a:r>
          </a:p>
        </p:txBody>
      </p:sp>
      <p:sp>
        <p:nvSpPr>
          <p:cNvPr id="291" name="Rectangle 24"/>
          <p:cNvSpPr/>
          <p:nvPr/>
        </p:nvSpPr>
        <p:spPr>
          <a:xfrm>
            <a:off x="13715998" y="2560320"/>
            <a:ext cx="3840481" cy="3291841"/>
          </a:xfrm>
          <a:prstGeom prst="rect">
            <a:avLst/>
          </a:prstGeom>
          <a:solidFill>
            <a:srgbClr val="1A2B3C"/>
          </a:solidFill>
          <a:ln w="25400">
            <a:solidFill>
              <a:srgbClr val="FFEE5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25"/>
          <p:cNvSpPr txBox="1"/>
          <p:nvPr/>
        </p:nvSpPr>
        <p:spPr>
          <a:xfrm>
            <a:off x="13871446" y="2670048"/>
            <a:ext cx="3657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600">
                <a:solidFill>
                  <a:srgbClr val="FFEE58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93" name="TextBox 26"/>
          <p:cNvSpPr txBox="1"/>
          <p:nvPr/>
        </p:nvSpPr>
        <p:spPr>
          <a:xfrm>
            <a:off x="14208759" y="2771648"/>
            <a:ext cx="31089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FFEE5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Dev/prod parity</a:t>
            </a:r>
          </a:p>
        </p:txBody>
      </p:sp>
      <p:sp>
        <p:nvSpPr>
          <p:cNvPr id="294" name="TextBox 27"/>
          <p:cNvSpPr txBox="1"/>
          <p:nvPr/>
        </p:nvSpPr>
        <p:spPr>
          <a:xfrm>
            <a:off x="13898878" y="3246120"/>
            <a:ext cx="3474720" cy="658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5000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Giữ gap nhỏ nhất giữa</a:t>
            </a:r>
          </a:p>
          <a:p>
            <a:pPr>
              <a:lnSpc>
                <a:spcPct val="135000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dev, staging, production.</a:t>
            </a:r>
          </a:p>
        </p:txBody>
      </p:sp>
      <p:sp>
        <p:nvSpPr>
          <p:cNvPr id="295" name="TextBox 28"/>
          <p:cNvSpPr txBox="1"/>
          <p:nvPr/>
        </p:nvSpPr>
        <p:spPr>
          <a:xfrm>
            <a:off x="1143000" y="6035040"/>
            <a:ext cx="44805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Production Checklist (MVP)</a:t>
            </a:r>
          </a:p>
        </p:txBody>
      </p:sp>
      <p:sp>
        <p:nvSpPr>
          <p:cNvPr id="296" name="TextBox 29"/>
          <p:cNvSpPr txBox="1"/>
          <p:nvPr/>
        </p:nvSpPr>
        <p:spPr>
          <a:xfrm>
            <a:off x="1143000" y="6537959"/>
            <a:ext cx="722376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Secrets trong env vars (không trong code)</a:t>
            </a:r>
          </a:p>
        </p:txBody>
      </p:sp>
      <p:sp>
        <p:nvSpPr>
          <p:cNvPr id="297" name="TextBox 30"/>
          <p:cNvSpPr txBox="1"/>
          <p:nvPr/>
        </p:nvSpPr>
        <p:spPr>
          <a:xfrm>
            <a:off x="1143000" y="7214616"/>
            <a:ext cx="722376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Health check endpoint: GET /health</a:t>
            </a:r>
          </a:p>
        </p:txBody>
      </p:sp>
      <p:sp>
        <p:nvSpPr>
          <p:cNvPr id="298" name="TextBox 31"/>
          <p:cNvSpPr txBox="1"/>
          <p:nvPr/>
        </p:nvSpPr>
        <p:spPr>
          <a:xfrm>
            <a:off x="1143000" y="7891271"/>
            <a:ext cx="722376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Structured logging (JSON format)</a:t>
            </a:r>
          </a:p>
        </p:txBody>
      </p:sp>
      <p:sp>
        <p:nvSpPr>
          <p:cNvPr id="299" name="TextBox 32"/>
          <p:cNvSpPr txBox="1"/>
          <p:nvPr/>
        </p:nvSpPr>
        <p:spPr>
          <a:xfrm>
            <a:off x="1143000" y="8567928"/>
            <a:ext cx="722376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Graceful shutdown (handle SIGTERM)</a:t>
            </a:r>
          </a:p>
        </p:txBody>
      </p:sp>
      <p:sp>
        <p:nvSpPr>
          <p:cNvPr id="300" name="Rectangle 33"/>
          <p:cNvSpPr/>
          <p:nvPr/>
        </p:nvSpPr>
        <p:spPr>
          <a:xfrm>
            <a:off x="8961119" y="6035040"/>
            <a:ext cx="8229601" cy="3291841"/>
          </a:xfrm>
          <a:prstGeom prst="rect">
            <a:avLst/>
          </a:prstGeom>
          <a:solidFill>
            <a:srgbClr val="0A2A3D"/>
          </a:solidFill>
          <a:ln w="2540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TextBox 34"/>
          <p:cNvSpPr txBox="1"/>
          <p:nvPr/>
        </p:nvSpPr>
        <p:spPr>
          <a:xfrm>
            <a:off x="9144000" y="6126479"/>
            <a:ext cx="786384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Đừng cố học hết 12 factors ngay. 4 cái trên đủ cho MVP deployment.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Freeform 3"/>
          <p:cNvSpPr/>
          <p:nvPr/>
        </p:nvSpPr>
        <p:spPr>
          <a:xfrm>
            <a:off x="0" y="-177933"/>
            <a:ext cx="18288000" cy="44958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Freeform 4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Freeform 5"/>
          <p:cNvSpPr/>
          <p:nvPr/>
        </p:nvSpPr>
        <p:spPr>
          <a:xfrm>
            <a:off x="13422238" y="8762217"/>
            <a:ext cx="4106320" cy="49608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Freeform 6"/>
          <p:cNvSpPr/>
          <p:nvPr/>
        </p:nvSpPr>
        <p:spPr>
          <a:xfrm>
            <a:off x="12390119" y="9396590"/>
            <a:ext cx="5138438" cy="28711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AutoShape 9"/>
          <p:cNvSpPr/>
          <p:nvPr/>
        </p:nvSpPr>
        <p:spPr>
          <a:xfrm>
            <a:off x="4709895" y="2423421"/>
            <a:ext cx="10172405" cy="1"/>
          </a:xfrm>
          <a:prstGeom prst="line">
            <a:avLst/>
          </a:prstGeom>
          <a:ln w="38100">
            <a:solidFill>
              <a:srgbClr val="A6A6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TextBox 9"/>
          <p:cNvSpPr txBox="1"/>
          <p:nvPr/>
        </p:nvSpPr>
        <p:spPr>
          <a:xfrm>
            <a:off x="1143000" y="2011679"/>
            <a:ext cx="3566160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0000">
                <a:solidFill>
                  <a:srgbClr val="81C784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10" name="TextBox 10"/>
          <p:cNvSpPr txBox="1"/>
          <p:nvPr/>
        </p:nvSpPr>
        <p:spPr>
          <a:xfrm>
            <a:off x="4617720" y="2834639"/>
            <a:ext cx="12252960" cy="1663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5000"/>
              </a:lnSpc>
              <a:defRPr sz="46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DOCKER - ĐÓNG GÓI AGENT THÀNH CONTAINER</a:t>
            </a:r>
          </a:p>
        </p:txBody>
      </p:sp>
      <p:sp>
        <p:nvSpPr>
          <p:cNvPr id="311" name="TextBox 11"/>
          <p:cNvSpPr txBox="1"/>
          <p:nvPr/>
        </p:nvSpPr>
        <p:spPr>
          <a:xfrm>
            <a:off x="4617720" y="5029200"/>
            <a:ext cx="12252960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2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Build once — run anywhere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Freeform 5"/>
          <p:cNvSpPr/>
          <p:nvPr/>
        </p:nvSpPr>
        <p:spPr>
          <a:xfrm>
            <a:off x="1028699" y="1028700"/>
            <a:ext cx="5440822" cy="72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TextBox 10"/>
          <p:cNvSpPr txBox="1"/>
          <p:nvPr/>
        </p:nvSpPr>
        <p:spPr>
          <a:xfrm>
            <a:off x="1143000" y="10469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Container Là Gì?</a:t>
            </a:r>
          </a:p>
        </p:txBody>
      </p:sp>
      <p:sp>
        <p:nvSpPr>
          <p:cNvPr id="319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Rectangle 12"/>
          <p:cNvSpPr/>
          <p:nvPr/>
        </p:nvSpPr>
        <p:spPr>
          <a:xfrm>
            <a:off x="1097280" y="2468879"/>
            <a:ext cx="8686801" cy="5303521"/>
          </a:xfrm>
          <a:prstGeom prst="rect">
            <a:avLst/>
          </a:prstGeom>
          <a:solidFill>
            <a:srgbClr val="1A2B3C"/>
          </a:solidFill>
          <a:ln w="254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TextBox 13"/>
          <p:cNvSpPr txBox="1"/>
          <p:nvPr/>
        </p:nvSpPr>
        <p:spPr>
          <a:xfrm>
            <a:off x="1417319" y="2514600"/>
            <a:ext cx="3566161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4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CONTAINER</a:t>
            </a:r>
          </a:p>
        </p:txBody>
      </p:sp>
      <p:sp>
        <p:nvSpPr>
          <p:cNvPr id="322" name="Rectangle 14"/>
          <p:cNvSpPr/>
          <p:nvPr/>
        </p:nvSpPr>
        <p:spPr>
          <a:xfrm>
            <a:off x="1371600" y="2971800"/>
            <a:ext cx="8046719" cy="914400"/>
          </a:xfrm>
          <a:prstGeom prst="rect">
            <a:avLst/>
          </a:prstGeom>
          <a:solidFill>
            <a:srgbClr val="1A3045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TextBox 15"/>
          <p:cNvSpPr txBox="1"/>
          <p:nvPr/>
        </p:nvSpPr>
        <p:spPr>
          <a:xfrm>
            <a:off x="1554480" y="3154679"/>
            <a:ext cx="758952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📦  Application Code</a:t>
            </a:r>
          </a:p>
        </p:txBody>
      </p:sp>
      <p:sp>
        <p:nvSpPr>
          <p:cNvPr id="324" name="Rectangle 16"/>
          <p:cNvSpPr/>
          <p:nvPr/>
        </p:nvSpPr>
        <p:spPr>
          <a:xfrm>
            <a:off x="1371600" y="4069079"/>
            <a:ext cx="8046719" cy="914401"/>
          </a:xfrm>
          <a:prstGeom prst="rect">
            <a:avLst/>
          </a:prstGeom>
          <a:solidFill>
            <a:srgbClr val="1A3045"/>
          </a:solidFill>
          <a:ln w="127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TextBox 17"/>
          <p:cNvSpPr txBox="1"/>
          <p:nvPr/>
        </p:nvSpPr>
        <p:spPr>
          <a:xfrm>
            <a:off x="1554480" y="4251959"/>
            <a:ext cx="758952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📚  Dependencies (Python, libs)</a:t>
            </a:r>
          </a:p>
        </p:txBody>
      </p:sp>
      <p:sp>
        <p:nvSpPr>
          <p:cNvPr id="326" name="Rectangle 18"/>
          <p:cNvSpPr/>
          <p:nvPr/>
        </p:nvSpPr>
        <p:spPr>
          <a:xfrm>
            <a:off x="1371600" y="5166359"/>
            <a:ext cx="8046719" cy="914401"/>
          </a:xfrm>
          <a:prstGeom prst="rect">
            <a:avLst/>
          </a:prstGeom>
          <a:solidFill>
            <a:srgbClr val="1A3045"/>
          </a:solidFill>
          <a:ln w="1270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19"/>
          <p:cNvSpPr txBox="1"/>
          <p:nvPr/>
        </p:nvSpPr>
        <p:spPr>
          <a:xfrm>
            <a:off x="1554480" y="5349240"/>
            <a:ext cx="758952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⚙️  Runtime Config</a:t>
            </a:r>
          </a:p>
        </p:txBody>
      </p:sp>
      <p:sp>
        <p:nvSpPr>
          <p:cNvPr id="328" name="Rectangle 20"/>
          <p:cNvSpPr/>
          <p:nvPr/>
        </p:nvSpPr>
        <p:spPr>
          <a:xfrm>
            <a:off x="1371600" y="6263640"/>
            <a:ext cx="8046719" cy="914401"/>
          </a:xfrm>
          <a:prstGeom prst="rect">
            <a:avLst/>
          </a:prstGeom>
          <a:solidFill>
            <a:srgbClr val="122030"/>
          </a:solidFill>
          <a:ln w="12700">
            <a:solidFill>
              <a:srgbClr val="B0BE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TextBox 21"/>
          <p:cNvSpPr txBox="1"/>
          <p:nvPr/>
        </p:nvSpPr>
        <p:spPr>
          <a:xfrm>
            <a:off x="1554480" y="6446520"/>
            <a:ext cx="758952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🐧  Minimal OS (slim / alpine)</a:t>
            </a:r>
          </a:p>
        </p:txBody>
      </p:sp>
      <p:sp>
        <p:nvSpPr>
          <p:cNvPr id="330" name="Rectangle 22"/>
          <p:cNvSpPr/>
          <p:nvPr/>
        </p:nvSpPr>
        <p:spPr>
          <a:xfrm>
            <a:off x="10101646" y="6140576"/>
            <a:ext cx="2103121" cy="1280161"/>
          </a:xfrm>
          <a:prstGeom prst="rect">
            <a:avLst/>
          </a:prstGeom>
          <a:solidFill>
            <a:srgbClr val="1A2B3C"/>
          </a:solidFill>
          <a:ln w="1905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extBox 23"/>
          <p:cNvSpPr txBox="1"/>
          <p:nvPr/>
        </p:nvSpPr>
        <p:spPr>
          <a:xfrm>
            <a:off x="10238806" y="6460616"/>
            <a:ext cx="182880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16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💻 Laptop</a:t>
            </a:r>
          </a:p>
        </p:txBody>
      </p:sp>
      <p:sp>
        <p:nvSpPr>
          <p:cNvPr id="332" name="Rectangle 24"/>
          <p:cNvSpPr/>
          <p:nvPr/>
        </p:nvSpPr>
        <p:spPr>
          <a:xfrm>
            <a:off x="12479086" y="6140576"/>
            <a:ext cx="2103121" cy="1280161"/>
          </a:xfrm>
          <a:prstGeom prst="rect">
            <a:avLst/>
          </a:prstGeom>
          <a:solidFill>
            <a:srgbClr val="1A2B3C"/>
          </a:solidFill>
          <a:ln w="190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25"/>
          <p:cNvSpPr txBox="1"/>
          <p:nvPr/>
        </p:nvSpPr>
        <p:spPr>
          <a:xfrm>
            <a:off x="12616246" y="6460616"/>
            <a:ext cx="182880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☁️ Cloud VM</a:t>
            </a:r>
          </a:p>
        </p:txBody>
      </p:sp>
      <p:sp>
        <p:nvSpPr>
          <p:cNvPr id="334" name="Rectangle 26"/>
          <p:cNvSpPr/>
          <p:nvPr/>
        </p:nvSpPr>
        <p:spPr>
          <a:xfrm>
            <a:off x="14856527" y="6140576"/>
            <a:ext cx="2103121" cy="1280161"/>
          </a:xfrm>
          <a:prstGeom prst="rect">
            <a:avLst/>
          </a:prstGeom>
          <a:solidFill>
            <a:srgbClr val="1A2B3C"/>
          </a:solidFill>
          <a:ln w="1905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TextBox 27"/>
          <p:cNvSpPr txBox="1"/>
          <p:nvPr/>
        </p:nvSpPr>
        <p:spPr>
          <a:xfrm>
            <a:off x="14993686" y="6460616"/>
            <a:ext cx="182880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16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🐳 Kubernetes</a:t>
            </a:r>
          </a:p>
        </p:txBody>
      </p:sp>
      <p:sp>
        <p:nvSpPr>
          <p:cNvPr id="336" name="Rectangle 29"/>
          <p:cNvSpPr/>
          <p:nvPr/>
        </p:nvSpPr>
        <p:spPr>
          <a:xfrm>
            <a:off x="1097279" y="7955278"/>
            <a:ext cx="16093441" cy="822961"/>
          </a:xfrm>
          <a:prstGeom prst="rect">
            <a:avLst/>
          </a:prstGeom>
          <a:solidFill>
            <a:srgbClr val="0A2A3D"/>
          </a:solidFill>
          <a:ln w="254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TextBox 30"/>
          <p:cNvSpPr txBox="1"/>
          <p:nvPr/>
        </p:nvSpPr>
        <p:spPr>
          <a:xfrm>
            <a:off x="1280159" y="8046718"/>
            <a:ext cx="15727681" cy="582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Container = app + deps + runtime đóng gói thành 1 unit.</a:t>
            </a:r>
          </a:p>
          <a:p>
            <a: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Giải quyết "it works on my machine" triệt để.</a:t>
            </a:r>
          </a:p>
        </p:txBody>
      </p:sp>
      <p:sp>
        <p:nvSpPr>
          <p:cNvPr id="338" name="TextBox 31"/>
          <p:cNvSpPr txBox="1"/>
          <p:nvPr/>
        </p:nvSpPr>
        <p:spPr>
          <a:xfrm>
            <a:off x="10172700" y="2499360"/>
            <a:ext cx="67665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VM vs Container</a:t>
            </a:r>
          </a:p>
        </p:txBody>
      </p:sp>
      <p:sp>
        <p:nvSpPr>
          <p:cNvPr id="339" name="Rectangle 32"/>
          <p:cNvSpPr/>
          <p:nvPr/>
        </p:nvSpPr>
        <p:spPr>
          <a:xfrm>
            <a:off x="10241280" y="2971800"/>
            <a:ext cx="3198600" cy="1920240"/>
          </a:xfrm>
          <a:prstGeom prst="rect">
            <a:avLst/>
          </a:prstGeom>
          <a:solidFill>
            <a:srgbClr val="1A2B3C"/>
          </a:solidFill>
          <a:ln w="1905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TextBox 33"/>
          <p:cNvSpPr txBox="1"/>
          <p:nvPr/>
        </p:nvSpPr>
        <p:spPr>
          <a:xfrm>
            <a:off x="10424159" y="3081527"/>
            <a:ext cx="64922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VM</a:t>
            </a:r>
          </a:p>
        </p:txBody>
      </p:sp>
      <p:sp>
        <p:nvSpPr>
          <p:cNvPr id="341" name="TextBox 34"/>
          <p:cNvSpPr txBox="1"/>
          <p:nvPr/>
        </p:nvSpPr>
        <p:spPr>
          <a:xfrm>
            <a:off x="10424159" y="3447288"/>
            <a:ext cx="2832841" cy="847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OS đầy đủ (~GB)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Khởi động chậm (phút)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Isolation mạnh hơn</a:t>
            </a:r>
          </a:p>
        </p:txBody>
      </p:sp>
      <p:sp>
        <p:nvSpPr>
          <p:cNvPr id="342" name="Rectangle 35"/>
          <p:cNvSpPr/>
          <p:nvPr/>
        </p:nvSpPr>
        <p:spPr>
          <a:xfrm>
            <a:off x="13701500" y="2971800"/>
            <a:ext cx="3198600" cy="1920240"/>
          </a:xfrm>
          <a:prstGeom prst="rect">
            <a:avLst/>
          </a:prstGeom>
          <a:solidFill>
            <a:srgbClr val="1A2B3C"/>
          </a:solidFill>
          <a:ln w="190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TextBox 36"/>
          <p:cNvSpPr txBox="1"/>
          <p:nvPr/>
        </p:nvSpPr>
        <p:spPr>
          <a:xfrm>
            <a:off x="13884380" y="3086964"/>
            <a:ext cx="64922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Container</a:t>
            </a:r>
          </a:p>
        </p:txBody>
      </p:sp>
      <p:sp>
        <p:nvSpPr>
          <p:cNvPr id="344" name="TextBox 37"/>
          <p:cNvSpPr txBox="1"/>
          <p:nvPr/>
        </p:nvSpPr>
        <p:spPr>
          <a:xfrm>
            <a:off x="13858980" y="3470275"/>
            <a:ext cx="2122171" cy="847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Dùng chung OS kernel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Khởi động nhanh (giây)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Nhẹ hơn, portable hơn</a:t>
            </a:r>
          </a:p>
        </p:txBody>
      </p:sp>
      <p:sp>
        <p:nvSpPr>
          <p:cNvPr id="345" name="Rectangle 12"/>
          <p:cNvSpPr/>
          <p:nvPr/>
        </p:nvSpPr>
        <p:spPr>
          <a:xfrm>
            <a:off x="9878274" y="2468879"/>
            <a:ext cx="7304745" cy="5303521"/>
          </a:xfrm>
          <a:prstGeom prst="rect">
            <a:avLst/>
          </a:prstGeom>
          <a:ln w="254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TextBox 30"/>
          <p:cNvSpPr txBox="1"/>
          <p:nvPr/>
        </p:nvSpPr>
        <p:spPr>
          <a:xfrm>
            <a:off x="10086211" y="5687567"/>
            <a:ext cx="3091407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—&gt; Đóng gói 1 lần, chạy ở mọi nơi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Freeform 5"/>
          <p:cNvSpPr/>
          <p:nvPr/>
        </p:nvSpPr>
        <p:spPr>
          <a:xfrm>
            <a:off x="1028699" y="1028700"/>
            <a:ext cx="5440822" cy="72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TextBox 10"/>
          <p:cNvSpPr txBox="1"/>
          <p:nvPr/>
        </p:nvSpPr>
        <p:spPr>
          <a:xfrm>
            <a:off x="1143000" y="10469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Dockerfile Cho AI Agent</a:t>
            </a:r>
          </a:p>
        </p:txBody>
      </p:sp>
      <p:sp>
        <p:nvSpPr>
          <p:cNvPr id="354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TextBox 12"/>
          <p:cNvSpPr txBox="1"/>
          <p:nvPr/>
        </p:nvSpPr>
        <p:spPr>
          <a:xfrm>
            <a:off x="1143000" y="2377439"/>
            <a:ext cx="722376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BASIC — Single Stage</a:t>
            </a:r>
          </a:p>
        </p:txBody>
      </p:sp>
      <p:grpSp>
        <p:nvGrpSpPr>
          <p:cNvPr id="358" name="Rectangle 13"/>
          <p:cNvGrpSpPr/>
          <p:nvPr/>
        </p:nvGrpSpPr>
        <p:grpSpPr>
          <a:xfrm>
            <a:off x="1097280" y="2834639"/>
            <a:ext cx="7772401" cy="2606041"/>
            <a:chOff x="0" y="0"/>
            <a:chExt cx="7772400" cy="2606039"/>
          </a:xfrm>
        </p:grpSpPr>
        <p:sp>
          <p:nvSpPr>
            <p:cNvPr id="356" name="Rectangle"/>
            <p:cNvSpPr/>
            <p:nvPr/>
          </p:nvSpPr>
          <p:spPr>
            <a:xfrm>
              <a:off x="0" y="0"/>
              <a:ext cx="7772400" cy="2606040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7" name="FROM python:3.11        # ← 1.0 GB base imageWORKDIR /app…"/>
            <p:cNvSpPr txBox="1"/>
            <p:nvPr/>
          </p:nvSpPr>
          <p:spPr>
            <a:xfrm>
              <a:off x="141639" y="654049"/>
              <a:ext cx="7489122" cy="1297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FROM python:3.11        # ← 1.0 GB base imageWORKDIR /app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COPY requirements.txt 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RUN pip install -r requirements.txt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COPY . 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CMD ["uvicorn", "main:app", "--host", "0.0.0.0"]</a:t>
              </a:r>
            </a:p>
          </p:txBody>
        </p:sp>
      </p:grpSp>
      <p:sp>
        <p:nvSpPr>
          <p:cNvPr id="359" name="TextBox 14"/>
          <p:cNvSpPr txBox="1"/>
          <p:nvPr/>
        </p:nvSpPr>
        <p:spPr>
          <a:xfrm>
            <a:off x="9144000" y="3931920"/>
            <a:ext cx="731521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4000">
                <a:solidFill>
                  <a:srgbClr val="4FC3F7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60" name="TextBox 15"/>
          <p:cNvSpPr txBox="1"/>
          <p:nvPr/>
        </p:nvSpPr>
        <p:spPr>
          <a:xfrm>
            <a:off x="10012679" y="2377439"/>
            <a:ext cx="76809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ADVANCED — Multi-Stage  ✅</a:t>
            </a:r>
          </a:p>
        </p:txBody>
      </p:sp>
      <p:grpSp>
        <p:nvGrpSpPr>
          <p:cNvPr id="363" name="Rectangle 16"/>
          <p:cNvGrpSpPr/>
          <p:nvPr/>
        </p:nvGrpSpPr>
        <p:grpSpPr>
          <a:xfrm>
            <a:off x="9966959" y="2834640"/>
            <a:ext cx="7772401" cy="4480560"/>
            <a:chOff x="0" y="0"/>
            <a:chExt cx="7772400" cy="4480559"/>
          </a:xfrm>
        </p:grpSpPr>
        <p:sp>
          <p:nvSpPr>
            <p:cNvPr id="361" name="Rectangle"/>
            <p:cNvSpPr/>
            <p:nvPr/>
          </p:nvSpPr>
          <p:spPr>
            <a:xfrm>
              <a:off x="0" y="0"/>
              <a:ext cx="7772400" cy="4480560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62" name="Stage 1: Builder (có build tools)…"/>
            <p:cNvSpPr txBox="1"/>
            <p:nvPr/>
          </p:nvSpPr>
          <p:spPr>
            <a:xfrm>
              <a:off x="141639" y="491519"/>
              <a:ext cx="7489122" cy="34975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700">
                  <a:solidFill>
                    <a:srgbClr val="B0BEC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B0BEC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Stage 1: Builder (có build tools)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FROM python:3.11-slim AS builder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WORKDIR /app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COPY requirements.txt 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RUN pip install --no-cache-dir --user -r requirements.txt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B0BEC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# Stage 2: Runtime (ch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ỉ </a:t>
              </a:r>
              <a:r>
                <a:t>app + packages)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FROM python:3.11-slim AS runtime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RUN useradd -r appuser              # non-root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COPY --from=builder /root/.local /home/appuser/.local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COPY . 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HEALTHCHECK CMD curl -f /health || exit 1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700">
                  <a:solidFill>
                    <a:srgbClr val="4FC3F7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CMD ["uvicorn", "main:app", "--host", "0.0.0.0"]</a:t>
              </a:r>
            </a:p>
          </p:txBody>
        </p:sp>
      </p:grpSp>
      <p:sp>
        <p:nvSpPr>
          <p:cNvPr id="364" name="TextBox 17"/>
          <p:cNvSpPr txBox="1"/>
          <p:nvPr/>
        </p:nvSpPr>
        <p:spPr>
          <a:xfrm>
            <a:off x="1143000" y="5669279"/>
            <a:ext cx="21945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Image Size:</a:t>
            </a:r>
          </a:p>
        </p:txBody>
      </p:sp>
      <p:sp>
        <p:nvSpPr>
          <p:cNvPr id="365" name="TextBox 18"/>
          <p:cNvSpPr txBox="1"/>
          <p:nvPr/>
        </p:nvSpPr>
        <p:spPr>
          <a:xfrm>
            <a:off x="1143000" y="6080759"/>
            <a:ext cx="722376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500">
                <a:solidFill>
                  <a:srgbClr val="EF535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python:3.11  →  ~1.0 GB</a:t>
            </a:r>
          </a:p>
        </p:txBody>
      </p:sp>
      <p:sp>
        <p:nvSpPr>
          <p:cNvPr id="366" name="TextBox 19"/>
          <p:cNvSpPr txBox="1"/>
          <p:nvPr/>
        </p:nvSpPr>
        <p:spPr>
          <a:xfrm>
            <a:off x="1143000" y="6492240"/>
            <a:ext cx="768096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4998"/>
              </a:lnSpc>
              <a:defRPr sz="1500">
                <a:solidFill>
                  <a:srgbClr val="81C78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python:3.11-slim + multi-stage  →  ~160 MB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367" name="Rectangle 20"/>
          <p:cNvSpPr/>
          <p:nvPr/>
        </p:nvSpPr>
        <p:spPr>
          <a:xfrm>
            <a:off x="1097279" y="8732519"/>
            <a:ext cx="16093441" cy="566929"/>
          </a:xfrm>
          <a:prstGeom prst="rect">
            <a:avLst/>
          </a:prstGeom>
          <a:solidFill>
            <a:srgbClr val="0A2A3D"/>
          </a:solidFill>
          <a:ln w="254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TextBox 21"/>
          <p:cNvSpPr txBox="1"/>
          <p:nvPr/>
        </p:nvSpPr>
        <p:spPr>
          <a:xfrm>
            <a:off x="1280159" y="8823959"/>
            <a:ext cx="157276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Mục tiêu: image &lt; 500 MB  ·  Non-root user  ·  HEALTHCHECK instruction  ·  .dockerignore đầy đủ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Freeform 5"/>
          <p:cNvSpPr/>
          <p:nvPr/>
        </p:nvSpPr>
        <p:spPr>
          <a:xfrm>
            <a:off x="1028699" y="1028699"/>
            <a:ext cx="9086341" cy="728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3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TextBox 10"/>
          <p:cNvSpPr txBox="1"/>
          <p:nvPr/>
        </p:nvSpPr>
        <p:spPr>
          <a:xfrm>
            <a:off x="1143000" y="10723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Docker Compose — Multi-Service Stack</a:t>
            </a:r>
          </a:p>
        </p:txBody>
      </p:sp>
      <p:sp>
        <p:nvSpPr>
          <p:cNvPr id="376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TextBox 12"/>
          <p:cNvSpPr txBox="1"/>
          <p:nvPr/>
        </p:nvSpPr>
        <p:spPr>
          <a:xfrm>
            <a:off x="1142999" y="2331720"/>
            <a:ext cx="1600200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9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1 lệnh  docker compose up  →  khởi động toàn bộ stack</a:t>
            </a:r>
          </a:p>
        </p:txBody>
      </p:sp>
      <p:sp>
        <p:nvSpPr>
          <p:cNvPr id="378" name="Rectangle 13"/>
          <p:cNvSpPr/>
          <p:nvPr/>
        </p:nvSpPr>
        <p:spPr>
          <a:xfrm>
            <a:off x="1097280" y="2926079"/>
            <a:ext cx="3840480" cy="2560321"/>
          </a:xfrm>
          <a:prstGeom prst="rect">
            <a:avLst/>
          </a:prstGeom>
          <a:solidFill>
            <a:srgbClr val="1A2B3C"/>
          </a:solidFill>
          <a:ln w="1905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TextBox 14"/>
          <p:cNvSpPr txBox="1"/>
          <p:nvPr/>
        </p:nvSpPr>
        <p:spPr>
          <a:xfrm>
            <a:off x="1280158" y="3035807"/>
            <a:ext cx="347472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🤖 Agent Service</a:t>
            </a:r>
          </a:p>
        </p:txBody>
      </p:sp>
      <p:sp>
        <p:nvSpPr>
          <p:cNvPr id="380" name="TextBox 15"/>
          <p:cNvSpPr txBox="1"/>
          <p:nvPr/>
        </p:nvSpPr>
        <p:spPr>
          <a:xfrm>
            <a:off x="1280158" y="3401567"/>
            <a:ext cx="3474720" cy="57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FastAPI + LLM logic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Port 8000</a:t>
            </a:r>
          </a:p>
        </p:txBody>
      </p:sp>
      <p:sp>
        <p:nvSpPr>
          <p:cNvPr id="381" name="Rectangle 16"/>
          <p:cNvSpPr/>
          <p:nvPr/>
        </p:nvSpPr>
        <p:spPr>
          <a:xfrm>
            <a:off x="5303520" y="2926079"/>
            <a:ext cx="3840480" cy="2560321"/>
          </a:xfrm>
          <a:prstGeom prst="rect">
            <a:avLst/>
          </a:prstGeom>
          <a:solidFill>
            <a:srgbClr val="1A2B3C"/>
          </a:solidFill>
          <a:ln w="190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2" name="TextBox 17"/>
          <p:cNvSpPr txBox="1"/>
          <p:nvPr/>
        </p:nvSpPr>
        <p:spPr>
          <a:xfrm>
            <a:off x="5486400" y="3035807"/>
            <a:ext cx="347471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🗄️ Vector Store</a:t>
            </a:r>
          </a:p>
        </p:txBody>
      </p:sp>
      <p:sp>
        <p:nvSpPr>
          <p:cNvPr id="383" name="TextBox 18"/>
          <p:cNvSpPr txBox="1"/>
          <p:nvPr/>
        </p:nvSpPr>
        <p:spPr>
          <a:xfrm>
            <a:off x="5486400" y="3401567"/>
            <a:ext cx="3474719" cy="57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Qdrant / ChromaDB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RAG database</a:t>
            </a:r>
          </a:p>
        </p:txBody>
      </p:sp>
      <p:sp>
        <p:nvSpPr>
          <p:cNvPr id="384" name="Rectangle 19"/>
          <p:cNvSpPr/>
          <p:nvPr/>
        </p:nvSpPr>
        <p:spPr>
          <a:xfrm>
            <a:off x="9509759" y="2926079"/>
            <a:ext cx="3840480" cy="2560321"/>
          </a:xfrm>
          <a:prstGeom prst="rect">
            <a:avLst/>
          </a:prstGeom>
          <a:solidFill>
            <a:srgbClr val="1A2B3C"/>
          </a:solidFill>
          <a:ln w="1905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5" name="TextBox 20"/>
          <p:cNvSpPr txBox="1"/>
          <p:nvPr/>
        </p:nvSpPr>
        <p:spPr>
          <a:xfrm>
            <a:off x="9692638" y="3035807"/>
            <a:ext cx="347472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⚡ Redis</a:t>
            </a:r>
          </a:p>
        </p:txBody>
      </p:sp>
      <p:sp>
        <p:nvSpPr>
          <p:cNvPr id="386" name="TextBox 21"/>
          <p:cNvSpPr txBox="1"/>
          <p:nvPr/>
        </p:nvSpPr>
        <p:spPr>
          <a:xfrm>
            <a:off x="9692638" y="3401567"/>
            <a:ext cx="3474720" cy="57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Session cache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Rate limit store</a:t>
            </a:r>
          </a:p>
        </p:txBody>
      </p:sp>
      <p:sp>
        <p:nvSpPr>
          <p:cNvPr id="387" name="Rectangle 22"/>
          <p:cNvSpPr/>
          <p:nvPr/>
        </p:nvSpPr>
        <p:spPr>
          <a:xfrm>
            <a:off x="13715998" y="2926079"/>
            <a:ext cx="3840481" cy="2560321"/>
          </a:xfrm>
          <a:prstGeom prst="rect">
            <a:avLst/>
          </a:prstGeom>
          <a:solidFill>
            <a:srgbClr val="1A2B3C"/>
          </a:solidFill>
          <a:ln w="19050">
            <a:solidFill>
              <a:srgbClr val="B0BE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TextBox 23"/>
          <p:cNvSpPr txBox="1"/>
          <p:nvPr/>
        </p:nvSpPr>
        <p:spPr>
          <a:xfrm>
            <a:off x="13898878" y="3035807"/>
            <a:ext cx="347472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🔀 Nginx</a:t>
            </a:r>
          </a:p>
        </p:txBody>
      </p:sp>
      <p:sp>
        <p:nvSpPr>
          <p:cNvPr id="389" name="TextBox 24"/>
          <p:cNvSpPr txBox="1"/>
          <p:nvPr/>
        </p:nvSpPr>
        <p:spPr>
          <a:xfrm>
            <a:off x="13898878" y="3401567"/>
            <a:ext cx="3474720" cy="57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Reverse proxy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25000"/>
              </a:lnSpc>
              <a:defRPr sz="14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·  </a:t>
            </a:r>
            <a:r>
              <a:rPr>
                <a:solidFill>
                  <a:srgbClr val="FFFEFF"/>
                </a:solidFill>
              </a:rPr>
              <a:t>Load balancer</a:t>
            </a:r>
          </a:p>
        </p:txBody>
      </p:sp>
      <p:grpSp>
        <p:nvGrpSpPr>
          <p:cNvPr id="392" name="Rectangle 25"/>
          <p:cNvGrpSpPr/>
          <p:nvPr/>
        </p:nvGrpSpPr>
        <p:grpSpPr>
          <a:xfrm>
            <a:off x="1097280" y="5714999"/>
            <a:ext cx="8686801" cy="2788922"/>
            <a:chOff x="0" y="0"/>
            <a:chExt cx="8686800" cy="2788920"/>
          </a:xfrm>
        </p:grpSpPr>
        <p:sp>
          <p:nvSpPr>
            <p:cNvPr id="390" name="Rectangle"/>
            <p:cNvSpPr/>
            <p:nvPr/>
          </p:nvSpPr>
          <p:spPr>
            <a:xfrm>
              <a:off x="0" y="-1"/>
              <a:ext cx="8686800" cy="2788922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91" name="# docker-compose.yml…"/>
            <p:cNvSpPr txBox="1"/>
            <p:nvPr/>
          </p:nvSpPr>
          <p:spPr>
            <a:xfrm>
              <a:off x="575975" y="53339"/>
              <a:ext cx="7553991" cy="2682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sz="1500">
                  <a:solidFill>
                    <a:srgbClr val="B0BEC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# docker-compose.yml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services: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agent: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build: 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depends_on: [redis, qdrant]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env_file: [.env.local]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healthcheck: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test: ["CMD", "curl", "-f", "http://localhost:8000/health"]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redis: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image: redis:7-alpine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qdrant: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image: qdrant/qdrant:v1.9.0</a:t>
              </a:r>
            </a:p>
          </p:txBody>
        </p:sp>
      </p:grpSp>
      <p:sp>
        <p:nvSpPr>
          <p:cNvPr id="393" name="TextBox 26"/>
          <p:cNvSpPr txBox="1"/>
          <p:nvPr/>
        </p:nvSpPr>
        <p:spPr>
          <a:xfrm>
            <a:off x="10104119" y="5715000"/>
            <a:ext cx="2651761" cy="34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Lợi ích:</a:t>
            </a:r>
          </a:p>
        </p:txBody>
      </p:sp>
      <p:sp>
        <p:nvSpPr>
          <p:cNvPr id="394" name="TextBox 27"/>
          <p:cNvSpPr txBox="1"/>
          <p:nvPr/>
        </p:nvSpPr>
        <p:spPr>
          <a:xfrm>
            <a:off x="10104119" y="6172200"/>
            <a:ext cx="6858001" cy="1356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0000"/>
              </a:lnSpc>
              <a:defRPr sz="17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▸  </a:t>
            </a:r>
            <a:r>
              <a:rPr>
                <a:solidFill>
                  <a:srgbClr val="FFFEFF"/>
                </a:solidFill>
              </a:rPr>
              <a:t>Mỗi service có network riêng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30000"/>
              </a:lnSpc>
              <a:defRPr sz="17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▸  </a:t>
            </a:r>
            <a:r>
              <a:rPr>
                <a:solidFill>
                  <a:srgbClr val="FFFEFF"/>
                </a:solidFill>
              </a:rPr>
              <a:t>Dễ thay thế từng service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30000"/>
              </a:lnSpc>
              <a:defRPr sz="17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▸  </a:t>
            </a:r>
            <a:r>
              <a:rPr>
                <a:solidFill>
                  <a:srgbClr val="FFFEFF"/>
                </a:solidFill>
              </a:rPr>
              <a:t>Persistent data với volumes</a:t>
            </a:r>
            <a:endParaRPr>
              <a:solidFill>
                <a:srgbClr val="FFFEFF"/>
              </a:solidFill>
            </a:endParaRPr>
          </a:p>
          <a:p>
            <a:pPr>
              <a:lnSpc>
                <a:spcPct val="130000"/>
              </a:lnSpc>
              <a:defRPr sz="17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▸  </a:t>
            </a:r>
            <a:r>
              <a:rPr>
                <a:solidFill>
                  <a:srgbClr val="FFFEFF"/>
                </a:solidFill>
              </a:rPr>
              <a:t>Scale: docker compose up --scale agent=3</a:t>
            </a:r>
          </a:p>
        </p:txBody>
      </p:sp>
      <p:sp>
        <p:nvSpPr>
          <p:cNvPr id="395" name="Rectangle 28"/>
          <p:cNvSpPr/>
          <p:nvPr/>
        </p:nvSpPr>
        <p:spPr>
          <a:xfrm>
            <a:off x="1097279" y="8686800"/>
            <a:ext cx="16093441" cy="566928"/>
          </a:xfrm>
          <a:prstGeom prst="rect">
            <a:avLst/>
          </a:prstGeom>
          <a:solidFill>
            <a:srgbClr val="0A2A3D"/>
          </a:solidFill>
          <a:ln w="254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6" name="TextBox 29"/>
          <p:cNvSpPr txBox="1"/>
          <p:nvPr/>
        </p:nvSpPr>
        <p:spPr>
          <a:xfrm>
            <a:off x="1280159" y="8778240"/>
            <a:ext cx="157276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Bắt đầu với 2 services: agent + vector store. Thêm Redis và Nginx khi cần scale.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9" name="Freeform 3"/>
          <p:cNvSpPr/>
          <p:nvPr/>
        </p:nvSpPr>
        <p:spPr>
          <a:xfrm>
            <a:off x="0" y="-177933"/>
            <a:ext cx="18288000" cy="44958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Freeform 4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1" name="Freeform 5"/>
          <p:cNvSpPr/>
          <p:nvPr/>
        </p:nvSpPr>
        <p:spPr>
          <a:xfrm>
            <a:off x="13422238" y="8762217"/>
            <a:ext cx="4106320" cy="49608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2" name="Freeform 6"/>
          <p:cNvSpPr/>
          <p:nvPr/>
        </p:nvSpPr>
        <p:spPr>
          <a:xfrm>
            <a:off x="12390119" y="9396590"/>
            <a:ext cx="5138438" cy="28711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3" name="AutoShape 9"/>
          <p:cNvSpPr/>
          <p:nvPr/>
        </p:nvSpPr>
        <p:spPr>
          <a:xfrm>
            <a:off x="4661835" y="2423421"/>
            <a:ext cx="7728285" cy="1"/>
          </a:xfrm>
          <a:prstGeom prst="line">
            <a:avLst/>
          </a:prstGeom>
          <a:ln w="38100">
            <a:solidFill>
              <a:srgbClr val="A6A6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TextBox 9"/>
          <p:cNvSpPr txBox="1"/>
          <p:nvPr/>
        </p:nvSpPr>
        <p:spPr>
          <a:xfrm>
            <a:off x="1143000" y="2011679"/>
            <a:ext cx="3566160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0000">
                <a:solidFill>
                  <a:srgbClr val="FFB74D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05" name="TextBox 10"/>
          <p:cNvSpPr txBox="1"/>
          <p:nvPr/>
        </p:nvSpPr>
        <p:spPr>
          <a:xfrm>
            <a:off x="4617720" y="2834639"/>
            <a:ext cx="12252960" cy="1863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52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pPr>
            <a:r>
              <a:t>CLOUD</a:t>
            </a:r>
          </a:p>
          <a:p>
            <a:pPr>
              <a:lnSpc>
                <a:spcPct val="125000"/>
              </a:lnSpc>
              <a:defRPr sz="52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pPr>
            <a:r>
              <a:t>DEPLOYMENT OPTIONS</a:t>
            </a:r>
          </a:p>
        </p:txBody>
      </p:sp>
      <p:sp>
        <p:nvSpPr>
          <p:cNvPr id="406" name="TextBox 11"/>
          <p:cNvSpPr txBox="1"/>
          <p:nvPr/>
        </p:nvSpPr>
        <p:spPr>
          <a:xfrm>
            <a:off x="4617720" y="5029200"/>
            <a:ext cx="12252960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0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Chọn platform dựa trên traffic, cost, control, compliance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9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Freeform 5"/>
          <p:cNvSpPr/>
          <p:nvPr/>
        </p:nvSpPr>
        <p:spPr>
          <a:xfrm>
            <a:off x="1028699" y="1028700"/>
            <a:ext cx="5440822" cy="72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1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TextBox 10"/>
          <p:cNvSpPr txBox="1"/>
          <p:nvPr/>
        </p:nvSpPr>
        <p:spPr>
          <a:xfrm>
            <a:off x="1143000" y="10469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3 Tier Deployment</a:t>
            </a:r>
          </a:p>
        </p:txBody>
      </p:sp>
      <p:sp>
        <p:nvSpPr>
          <p:cNvPr id="414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Rectangle 12"/>
          <p:cNvSpPr/>
          <p:nvPr/>
        </p:nvSpPr>
        <p:spPr>
          <a:xfrm>
            <a:off x="1097280" y="2468879"/>
            <a:ext cx="5303521" cy="6217921"/>
          </a:xfrm>
          <a:prstGeom prst="rect">
            <a:avLst/>
          </a:prstGeom>
          <a:solidFill>
            <a:srgbClr val="1A2B3C"/>
          </a:solidFill>
          <a:ln w="3175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6" name="TextBox 13"/>
          <p:cNvSpPr txBox="1"/>
          <p:nvPr/>
        </p:nvSpPr>
        <p:spPr>
          <a:xfrm>
            <a:off x="1280158" y="2578607"/>
            <a:ext cx="49377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600">
                <a:solidFill>
                  <a:srgbClr val="4FC3F7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Tier 1</a:t>
            </a:r>
          </a:p>
        </p:txBody>
      </p:sp>
      <p:sp>
        <p:nvSpPr>
          <p:cNvPr id="417" name="TextBox 14"/>
          <p:cNvSpPr txBox="1"/>
          <p:nvPr/>
        </p:nvSpPr>
        <p:spPr>
          <a:xfrm>
            <a:off x="1280158" y="3090672"/>
            <a:ext cx="49377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Railway  /  Render  /  Fly.io</a:t>
            </a:r>
          </a:p>
        </p:txBody>
      </p:sp>
      <p:sp>
        <p:nvSpPr>
          <p:cNvPr id="418" name="Rectangle 15"/>
          <p:cNvSpPr/>
          <p:nvPr/>
        </p:nvSpPr>
        <p:spPr>
          <a:xfrm>
            <a:off x="1234438" y="3657600"/>
            <a:ext cx="5029201" cy="36577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TextBox 16"/>
          <p:cNvSpPr txBox="1"/>
          <p:nvPr/>
        </p:nvSpPr>
        <p:spPr>
          <a:xfrm>
            <a:off x="1325879" y="3794759"/>
            <a:ext cx="48463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&lt; 10 phút deploy</a:t>
            </a:r>
          </a:p>
        </p:txBody>
      </p:sp>
      <p:sp>
        <p:nvSpPr>
          <p:cNvPr id="420" name="TextBox 17"/>
          <p:cNvSpPr txBox="1"/>
          <p:nvPr/>
        </p:nvSpPr>
        <p:spPr>
          <a:xfrm>
            <a:off x="1325879" y="4507991"/>
            <a:ext cx="48463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Free tier có sẵn</a:t>
            </a:r>
          </a:p>
        </p:txBody>
      </p:sp>
      <p:sp>
        <p:nvSpPr>
          <p:cNvPr id="421" name="TextBox 18"/>
          <p:cNvSpPr txBox="1"/>
          <p:nvPr/>
        </p:nvSpPr>
        <p:spPr>
          <a:xfrm>
            <a:off x="1325879" y="5221223"/>
            <a:ext cx="48463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Zero config</a:t>
            </a:r>
          </a:p>
        </p:txBody>
      </p:sp>
      <p:sp>
        <p:nvSpPr>
          <p:cNvPr id="422" name="TextBox 19"/>
          <p:cNvSpPr txBox="1"/>
          <p:nvPr/>
        </p:nvSpPr>
        <p:spPr>
          <a:xfrm>
            <a:off x="1325879" y="5934455"/>
            <a:ext cx="48463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MVP / Demo / Học</a:t>
            </a:r>
          </a:p>
        </p:txBody>
      </p:sp>
      <p:sp>
        <p:nvSpPr>
          <p:cNvPr id="423" name="Rectangle 20"/>
          <p:cNvSpPr/>
          <p:nvPr/>
        </p:nvSpPr>
        <p:spPr>
          <a:xfrm>
            <a:off x="1645918" y="8107678"/>
            <a:ext cx="4206242" cy="43891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TextBox 21"/>
          <p:cNvSpPr txBox="1"/>
          <p:nvPr/>
        </p:nvSpPr>
        <p:spPr>
          <a:xfrm>
            <a:off x="1691638" y="8183878"/>
            <a:ext cx="41148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14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BẮT ĐẦU ĐÂY</a:t>
            </a:r>
          </a:p>
        </p:txBody>
      </p:sp>
      <p:sp>
        <p:nvSpPr>
          <p:cNvPr id="425" name="Rectangle 22"/>
          <p:cNvSpPr/>
          <p:nvPr/>
        </p:nvSpPr>
        <p:spPr>
          <a:xfrm>
            <a:off x="6720840" y="2468879"/>
            <a:ext cx="5303521" cy="6217921"/>
          </a:xfrm>
          <a:prstGeom prst="rect">
            <a:avLst/>
          </a:prstGeom>
          <a:solidFill>
            <a:srgbClr val="1A2B3C"/>
          </a:solidFill>
          <a:ln w="317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TextBox 23"/>
          <p:cNvSpPr txBox="1"/>
          <p:nvPr/>
        </p:nvSpPr>
        <p:spPr>
          <a:xfrm>
            <a:off x="6903719" y="2578607"/>
            <a:ext cx="49377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600">
                <a:solidFill>
                  <a:srgbClr val="81C784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Tier 2</a:t>
            </a:r>
          </a:p>
        </p:txBody>
      </p:sp>
      <p:sp>
        <p:nvSpPr>
          <p:cNvPr id="427" name="TextBox 24"/>
          <p:cNvSpPr txBox="1"/>
          <p:nvPr/>
        </p:nvSpPr>
        <p:spPr>
          <a:xfrm>
            <a:off x="6903719" y="3090672"/>
            <a:ext cx="49377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AWS ECS  /  GCP Cloud Run</a:t>
            </a:r>
          </a:p>
        </p:txBody>
      </p:sp>
      <p:sp>
        <p:nvSpPr>
          <p:cNvPr id="428" name="Rectangle 25"/>
          <p:cNvSpPr/>
          <p:nvPr/>
        </p:nvSpPr>
        <p:spPr>
          <a:xfrm>
            <a:off x="6858000" y="3657600"/>
            <a:ext cx="5029200" cy="36577"/>
          </a:xfrm>
          <a:prstGeom prst="rect">
            <a:avLst/>
          </a:prstGeom>
          <a:solidFill>
            <a:srgbClr val="81C7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9" name="TextBox 26"/>
          <p:cNvSpPr txBox="1"/>
          <p:nvPr/>
        </p:nvSpPr>
        <p:spPr>
          <a:xfrm>
            <a:off x="6949439" y="3794759"/>
            <a:ext cx="48463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Enterprise-grade</a:t>
            </a:r>
          </a:p>
        </p:txBody>
      </p:sp>
      <p:sp>
        <p:nvSpPr>
          <p:cNvPr id="430" name="TextBox 27"/>
          <p:cNvSpPr txBox="1"/>
          <p:nvPr/>
        </p:nvSpPr>
        <p:spPr>
          <a:xfrm>
            <a:off x="6949439" y="4507991"/>
            <a:ext cx="48463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Auto-scaling</a:t>
            </a:r>
          </a:p>
        </p:txBody>
      </p:sp>
      <p:sp>
        <p:nvSpPr>
          <p:cNvPr id="431" name="TextBox 28"/>
          <p:cNvSpPr txBox="1"/>
          <p:nvPr/>
        </p:nvSpPr>
        <p:spPr>
          <a:xfrm>
            <a:off x="6949439" y="5221223"/>
            <a:ext cx="48463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CI/CD pipeline</a:t>
            </a:r>
          </a:p>
        </p:txBody>
      </p:sp>
      <p:sp>
        <p:nvSpPr>
          <p:cNvPr id="432" name="TextBox 29"/>
          <p:cNvSpPr txBox="1"/>
          <p:nvPr/>
        </p:nvSpPr>
        <p:spPr>
          <a:xfrm>
            <a:off x="6949439" y="5934455"/>
            <a:ext cx="48463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Production ready</a:t>
            </a:r>
          </a:p>
        </p:txBody>
      </p:sp>
      <p:sp>
        <p:nvSpPr>
          <p:cNvPr id="433" name="Rectangle 30"/>
          <p:cNvSpPr/>
          <p:nvPr/>
        </p:nvSpPr>
        <p:spPr>
          <a:xfrm>
            <a:off x="7269480" y="8107678"/>
            <a:ext cx="4206241" cy="438913"/>
          </a:xfrm>
          <a:prstGeom prst="rect">
            <a:avLst/>
          </a:prstGeom>
          <a:solidFill>
            <a:srgbClr val="81C7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TextBox 31"/>
          <p:cNvSpPr txBox="1"/>
          <p:nvPr/>
        </p:nvSpPr>
        <p:spPr>
          <a:xfrm>
            <a:off x="7315200" y="8183878"/>
            <a:ext cx="411480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14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KHI CẦN SCALE</a:t>
            </a:r>
          </a:p>
        </p:txBody>
      </p:sp>
      <p:sp>
        <p:nvSpPr>
          <p:cNvPr id="435" name="Rectangle 32"/>
          <p:cNvSpPr/>
          <p:nvPr/>
        </p:nvSpPr>
        <p:spPr>
          <a:xfrm>
            <a:off x="12344400" y="2468879"/>
            <a:ext cx="5303521" cy="6217921"/>
          </a:xfrm>
          <a:prstGeom prst="rect">
            <a:avLst/>
          </a:prstGeom>
          <a:solidFill>
            <a:srgbClr val="1A2B3C"/>
          </a:solidFill>
          <a:ln w="3175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TextBox 33"/>
          <p:cNvSpPr txBox="1"/>
          <p:nvPr/>
        </p:nvSpPr>
        <p:spPr>
          <a:xfrm>
            <a:off x="12527279" y="2578607"/>
            <a:ext cx="49377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600">
                <a:solidFill>
                  <a:srgbClr val="FFB74D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Tier 3</a:t>
            </a:r>
          </a:p>
        </p:txBody>
      </p:sp>
      <p:sp>
        <p:nvSpPr>
          <p:cNvPr id="437" name="TextBox 34"/>
          <p:cNvSpPr txBox="1"/>
          <p:nvPr/>
        </p:nvSpPr>
        <p:spPr>
          <a:xfrm>
            <a:off x="12527279" y="3090672"/>
            <a:ext cx="49377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Kubernetes  (Self-managed)</a:t>
            </a:r>
          </a:p>
        </p:txBody>
      </p:sp>
      <p:sp>
        <p:nvSpPr>
          <p:cNvPr id="438" name="Rectangle 35"/>
          <p:cNvSpPr/>
          <p:nvPr/>
        </p:nvSpPr>
        <p:spPr>
          <a:xfrm>
            <a:off x="12481559" y="3657600"/>
            <a:ext cx="5029201" cy="36577"/>
          </a:xfrm>
          <a:prstGeom prst="rect">
            <a:avLst/>
          </a:prstGeom>
          <a:solidFill>
            <a:srgbClr val="FFB74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TextBox 36"/>
          <p:cNvSpPr txBox="1"/>
          <p:nvPr/>
        </p:nvSpPr>
        <p:spPr>
          <a:xfrm>
            <a:off x="12573000" y="3794759"/>
            <a:ext cx="48463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Full control</a:t>
            </a:r>
          </a:p>
        </p:txBody>
      </p:sp>
      <p:sp>
        <p:nvSpPr>
          <p:cNvPr id="440" name="TextBox 37"/>
          <p:cNvSpPr txBox="1"/>
          <p:nvPr/>
        </p:nvSpPr>
        <p:spPr>
          <a:xfrm>
            <a:off x="12573000" y="4507991"/>
            <a:ext cx="48463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Complex ops</a:t>
            </a:r>
          </a:p>
        </p:txBody>
      </p:sp>
      <p:sp>
        <p:nvSpPr>
          <p:cNvPr id="441" name="TextBox 38"/>
          <p:cNvSpPr txBox="1"/>
          <p:nvPr/>
        </p:nvSpPr>
        <p:spPr>
          <a:xfrm>
            <a:off x="12573000" y="5221223"/>
            <a:ext cx="48463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Large-scale</a:t>
            </a:r>
          </a:p>
        </p:txBody>
      </p:sp>
      <p:sp>
        <p:nvSpPr>
          <p:cNvPr id="442" name="TextBox 39"/>
          <p:cNvSpPr txBox="1"/>
          <p:nvPr/>
        </p:nvSpPr>
        <p:spPr>
          <a:xfrm>
            <a:off x="12573000" y="5934455"/>
            <a:ext cx="484632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Multi-cloud</a:t>
            </a:r>
          </a:p>
        </p:txBody>
      </p:sp>
      <p:sp>
        <p:nvSpPr>
          <p:cNvPr id="443" name="Rectangle 40"/>
          <p:cNvSpPr/>
          <p:nvPr/>
        </p:nvSpPr>
        <p:spPr>
          <a:xfrm>
            <a:off x="12893040" y="8094978"/>
            <a:ext cx="4206241" cy="438913"/>
          </a:xfrm>
          <a:prstGeom prst="rect">
            <a:avLst/>
          </a:prstGeom>
          <a:solidFill>
            <a:srgbClr val="FFB74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4" name="TextBox 41"/>
          <p:cNvSpPr txBox="1"/>
          <p:nvPr/>
        </p:nvSpPr>
        <p:spPr>
          <a:xfrm>
            <a:off x="12938759" y="8183878"/>
            <a:ext cx="41148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14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KHI LỚN HƠN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Freeform 5"/>
          <p:cNvSpPr/>
          <p:nvPr/>
        </p:nvSpPr>
        <p:spPr>
          <a:xfrm>
            <a:off x="1028699" y="1028700"/>
            <a:ext cx="5440822" cy="72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9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0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TextBox 10"/>
          <p:cNvSpPr txBox="1"/>
          <p:nvPr/>
        </p:nvSpPr>
        <p:spPr>
          <a:xfrm>
            <a:off x="1143000" y="10596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So Sánh Platform</a:t>
            </a:r>
          </a:p>
        </p:txBody>
      </p:sp>
      <p:sp>
        <p:nvSpPr>
          <p:cNvPr id="452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Rectangle 12"/>
          <p:cNvSpPr/>
          <p:nvPr/>
        </p:nvSpPr>
        <p:spPr>
          <a:xfrm>
            <a:off x="2971800" y="2377439"/>
            <a:ext cx="3493009" cy="530353"/>
          </a:xfrm>
          <a:prstGeom prst="rect">
            <a:avLst/>
          </a:prstGeom>
          <a:solidFill>
            <a:srgbClr val="0A3052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TextBox 13"/>
          <p:cNvSpPr txBox="1"/>
          <p:nvPr/>
        </p:nvSpPr>
        <p:spPr>
          <a:xfrm>
            <a:off x="3108959" y="2450592"/>
            <a:ext cx="321869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Railway</a:t>
            </a:r>
          </a:p>
        </p:txBody>
      </p:sp>
      <p:sp>
        <p:nvSpPr>
          <p:cNvPr id="455" name="Rectangle 14"/>
          <p:cNvSpPr/>
          <p:nvPr/>
        </p:nvSpPr>
        <p:spPr>
          <a:xfrm>
            <a:off x="6537959" y="2377439"/>
            <a:ext cx="3493009" cy="530353"/>
          </a:xfrm>
          <a:prstGeom prst="rect">
            <a:avLst/>
          </a:prstGeom>
          <a:solidFill>
            <a:srgbClr val="0A3052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6" name="TextBox 15"/>
          <p:cNvSpPr txBox="1"/>
          <p:nvPr/>
        </p:nvSpPr>
        <p:spPr>
          <a:xfrm>
            <a:off x="6675119" y="2450592"/>
            <a:ext cx="321868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Render</a:t>
            </a:r>
          </a:p>
        </p:txBody>
      </p:sp>
      <p:sp>
        <p:nvSpPr>
          <p:cNvPr id="457" name="Rectangle 16"/>
          <p:cNvSpPr/>
          <p:nvPr/>
        </p:nvSpPr>
        <p:spPr>
          <a:xfrm>
            <a:off x="10104119" y="2377439"/>
            <a:ext cx="3493009" cy="530353"/>
          </a:xfrm>
          <a:prstGeom prst="rect">
            <a:avLst/>
          </a:prstGeom>
          <a:solidFill>
            <a:srgbClr val="0A3052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8" name="TextBox 17"/>
          <p:cNvSpPr txBox="1"/>
          <p:nvPr/>
        </p:nvSpPr>
        <p:spPr>
          <a:xfrm>
            <a:off x="10241279" y="2450592"/>
            <a:ext cx="321868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Cloud Run</a:t>
            </a:r>
          </a:p>
        </p:txBody>
      </p:sp>
      <p:sp>
        <p:nvSpPr>
          <p:cNvPr id="459" name="Rectangle 18"/>
          <p:cNvSpPr/>
          <p:nvPr/>
        </p:nvSpPr>
        <p:spPr>
          <a:xfrm>
            <a:off x="13670280" y="2377439"/>
            <a:ext cx="3493009" cy="530353"/>
          </a:xfrm>
          <a:prstGeom prst="rect">
            <a:avLst/>
          </a:prstGeom>
          <a:solidFill>
            <a:srgbClr val="0A3052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TextBox 19"/>
          <p:cNvSpPr txBox="1"/>
          <p:nvPr/>
        </p:nvSpPr>
        <p:spPr>
          <a:xfrm>
            <a:off x="13807439" y="2450592"/>
            <a:ext cx="321868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Lambda</a:t>
            </a:r>
          </a:p>
        </p:txBody>
      </p:sp>
      <p:sp>
        <p:nvSpPr>
          <p:cNvPr id="461" name="Rectangle 20"/>
          <p:cNvSpPr/>
          <p:nvPr/>
        </p:nvSpPr>
        <p:spPr>
          <a:xfrm>
            <a:off x="1097280" y="2953511"/>
            <a:ext cx="178307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TextBox 21"/>
          <p:cNvSpPr txBox="1"/>
          <p:nvPr/>
        </p:nvSpPr>
        <p:spPr>
          <a:xfrm>
            <a:off x="1234439" y="3154679"/>
            <a:ext cx="1508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Deploy time</a:t>
            </a:r>
          </a:p>
        </p:txBody>
      </p:sp>
      <p:sp>
        <p:nvSpPr>
          <p:cNvPr id="463" name="Rectangle 22"/>
          <p:cNvSpPr/>
          <p:nvPr/>
        </p:nvSpPr>
        <p:spPr>
          <a:xfrm>
            <a:off x="2971800" y="2953511"/>
            <a:ext cx="349300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4" name="TextBox 23"/>
          <p:cNvSpPr txBox="1"/>
          <p:nvPr/>
        </p:nvSpPr>
        <p:spPr>
          <a:xfrm>
            <a:off x="3108959" y="3154679"/>
            <a:ext cx="321869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&lt; 5 phút ✅</a:t>
            </a:r>
          </a:p>
        </p:txBody>
      </p:sp>
      <p:sp>
        <p:nvSpPr>
          <p:cNvPr id="465" name="Rectangle 24"/>
          <p:cNvSpPr/>
          <p:nvPr/>
        </p:nvSpPr>
        <p:spPr>
          <a:xfrm>
            <a:off x="6537959" y="2953511"/>
            <a:ext cx="349300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TextBox 25"/>
          <p:cNvSpPr txBox="1"/>
          <p:nvPr/>
        </p:nvSpPr>
        <p:spPr>
          <a:xfrm>
            <a:off x="6675119" y="3154679"/>
            <a:ext cx="3218689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&lt; 10 phút</a:t>
            </a:r>
          </a:p>
        </p:txBody>
      </p:sp>
      <p:sp>
        <p:nvSpPr>
          <p:cNvPr id="467" name="Rectangle 26"/>
          <p:cNvSpPr/>
          <p:nvPr/>
        </p:nvSpPr>
        <p:spPr>
          <a:xfrm>
            <a:off x="10104119" y="2953511"/>
            <a:ext cx="349300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8" name="TextBox 27"/>
          <p:cNvSpPr txBox="1"/>
          <p:nvPr/>
        </p:nvSpPr>
        <p:spPr>
          <a:xfrm>
            <a:off x="10241279" y="3154679"/>
            <a:ext cx="3218689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10-15 phút</a:t>
            </a:r>
          </a:p>
        </p:txBody>
      </p:sp>
      <p:sp>
        <p:nvSpPr>
          <p:cNvPr id="469" name="Rectangle 28"/>
          <p:cNvSpPr/>
          <p:nvPr/>
        </p:nvSpPr>
        <p:spPr>
          <a:xfrm>
            <a:off x="13670280" y="2953511"/>
            <a:ext cx="349300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0" name="TextBox 29"/>
          <p:cNvSpPr txBox="1"/>
          <p:nvPr/>
        </p:nvSpPr>
        <p:spPr>
          <a:xfrm>
            <a:off x="13807439" y="3154679"/>
            <a:ext cx="3218689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15-20 phút</a:t>
            </a:r>
          </a:p>
        </p:txBody>
      </p:sp>
      <p:sp>
        <p:nvSpPr>
          <p:cNvPr id="471" name="Rectangle 30"/>
          <p:cNvSpPr/>
          <p:nvPr/>
        </p:nvSpPr>
        <p:spPr>
          <a:xfrm>
            <a:off x="1097280" y="3959352"/>
            <a:ext cx="1783079" cy="950976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2" name="TextBox 31"/>
          <p:cNvSpPr txBox="1"/>
          <p:nvPr/>
        </p:nvSpPr>
        <p:spPr>
          <a:xfrm>
            <a:off x="1234439" y="4160520"/>
            <a:ext cx="1508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Pricing</a:t>
            </a:r>
          </a:p>
        </p:txBody>
      </p:sp>
      <p:sp>
        <p:nvSpPr>
          <p:cNvPr id="473" name="Rectangle 32"/>
          <p:cNvSpPr/>
          <p:nvPr/>
        </p:nvSpPr>
        <p:spPr>
          <a:xfrm>
            <a:off x="2971800" y="3959352"/>
            <a:ext cx="3493009" cy="950976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4" name="TextBox 33"/>
          <p:cNvSpPr txBox="1"/>
          <p:nvPr/>
        </p:nvSpPr>
        <p:spPr>
          <a:xfrm>
            <a:off x="3108959" y="4160520"/>
            <a:ext cx="321869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Usage-based</a:t>
            </a:r>
          </a:p>
        </p:txBody>
      </p:sp>
      <p:sp>
        <p:nvSpPr>
          <p:cNvPr id="475" name="Rectangle 34"/>
          <p:cNvSpPr/>
          <p:nvPr/>
        </p:nvSpPr>
        <p:spPr>
          <a:xfrm>
            <a:off x="6537959" y="3959352"/>
            <a:ext cx="3493009" cy="950976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TextBox 35"/>
          <p:cNvSpPr txBox="1"/>
          <p:nvPr/>
        </p:nvSpPr>
        <p:spPr>
          <a:xfrm>
            <a:off x="6675119" y="4160520"/>
            <a:ext cx="3218689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Free tier</a:t>
            </a:r>
          </a:p>
        </p:txBody>
      </p:sp>
      <p:sp>
        <p:nvSpPr>
          <p:cNvPr id="477" name="Rectangle 36"/>
          <p:cNvSpPr/>
          <p:nvPr/>
        </p:nvSpPr>
        <p:spPr>
          <a:xfrm>
            <a:off x="10104119" y="3959352"/>
            <a:ext cx="3493009" cy="950976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TextBox 37"/>
          <p:cNvSpPr txBox="1"/>
          <p:nvPr/>
        </p:nvSpPr>
        <p:spPr>
          <a:xfrm>
            <a:off x="10241279" y="4160520"/>
            <a:ext cx="3218689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Per-request</a:t>
            </a:r>
          </a:p>
        </p:txBody>
      </p:sp>
      <p:sp>
        <p:nvSpPr>
          <p:cNvPr id="479" name="Rectangle 38"/>
          <p:cNvSpPr/>
          <p:nvPr/>
        </p:nvSpPr>
        <p:spPr>
          <a:xfrm>
            <a:off x="13670280" y="3959352"/>
            <a:ext cx="3493009" cy="950976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0" name="TextBox 39"/>
          <p:cNvSpPr txBox="1"/>
          <p:nvPr/>
        </p:nvSpPr>
        <p:spPr>
          <a:xfrm>
            <a:off x="13807439" y="4160520"/>
            <a:ext cx="3218689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Per-invoke</a:t>
            </a:r>
          </a:p>
        </p:txBody>
      </p:sp>
      <p:sp>
        <p:nvSpPr>
          <p:cNvPr id="481" name="Rectangle 40"/>
          <p:cNvSpPr/>
          <p:nvPr/>
        </p:nvSpPr>
        <p:spPr>
          <a:xfrm>
            <a:off x="1097280" y="4965191"/>
            <a:ext cx="178307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2" name="TextBox 41"/>
          <p:cNvSpPr txBox="1"/>
          <p:nvPr/>
        </p:nvSpPr>
        <p:spPr>
          <a:xfrm>
            <a:off x="1234439" y="5166359"/>
            <a:ext cx="1508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Scaling</a:t>
            </a:r>
          </a:p>
        </p:txBody>
      </p:sp>
      <p:sp>
        <p:nvSpPr>
          <p:cNvPr id="483" name="Rectangle 42"/>
          <p:cNvSpPr/>
          <p:nvPr/>
        </p:nvSpPr>
        <p:spPr>
          <a:xfrm>
            <a:off x="2971800" y="4965191"/>
            <a:ext cx="349300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4" name="TextBox 43"/>
          <p:cNvSpPr txBox="1"/>
          <p:nvPr/>
        </p:nvSpPr>
        <p:spPr>
          <a:xfrm>
            <a:off x="3108959" y="5166359"/>
            <a:ext cx="321869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Auto ✅</a:t>
            </a:r>
          </a:p>
        </p:txBody>
      </p:sp>
      <p:sp>
        <p:nvSpPr>
          <p:cNvPr id="485" name="Rectangle 44"/>
          <p:cNvSpPr/>
          <p:nvPr/>
        </p:nvSpPr>
        <p:spPr>
          <a:xfrm>
            <a:off x="6537959" y="4965191"/>
            <a:ext cx="349300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6" name="TextBox 45"/>
          <p:cNvSpPr txBox="1"/>
          <p:nvPr/>
        </p:nvSpPr>
        <p:spPr>
          <a:xfrm>
            <a:off x="6675119" y="5166359"/>
            <a:ext cx="321868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Auto ✅</a:t>
            </a:r>
          </a:p>
        </p:txBody>
      </p:sp>
      <p:sp>
        <p:nvSpPr>
          <p:cNvPr id="487" name="Rectangle 46"/>
          <p:cNvSpPr/>
          <p:nvPr/>
        </p:nvSpPr>
        <p:spPr>
          <a:xfrm>
            <a:off x="10104119" y="4965191"/>
            <a:ext cx="349300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8" name="TextBox 47"/>
          <p:cNvSpPr txBox="1"/>
          <p:nvPr/>
        </p:nvSpPr>
        <p:spPr>
          <a:xfrm>
            <a:off x="10241279" y="5166359"/>
            <a:ext cx="321868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Auto ✅</a:t>
            </a:r>
          </a:p>
        </p:txBody>
      </p:sp>
      <p:sp>
        <p:nvSpPr>
          <p:cNvPr id="489" name="Rectangle 48"/>
          <p:cNvSpPr/>
          <p:nvPr/>
        </p:nvSpPr>
        <p:spPr>
          <a:xfrm>
            <a:off x="13670280" y="4965191"/>
            <a:ext cx="349300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0" name="TextBox 49"/>
          <p:cNvSpPr txBox="1"/>
          <p:nvPr/>
        </p:nvSpPr>
        <p:spPr>
          <a:xfrm>
            <a:off x="13807439" y="5166359"/>
            <a:ext cx="321868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Auto ✅</a:t>
            </a:r>
          </a:p>
        </p:txBody>
      </p:sp>
      <p:sp>
        <p:nvSpPr>
          <p:cNvPr id="491" name="Rectangle 50"/>
          <p:cNvSpPr/>
          <p:nvPr/>
        </p:nvSpPr>
        <p:spPr>
          <a:xfrm>
            <a:off x="1097280" y="5971032"/>
            <a:ext cx="1783079" cy="950976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2" name="TextBox 51"/>
          <p:cNvSpPr txBox="1"/>
          <p:nvPr/>
        </p:nvSpPr>
        <p:spPr>
          <a:xfrm>
            <a:off x="1234439" y="6172200"/>
            <a:ext cx="15087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Complexity</a:t>
            </a:r>
          </a:p>
        </p:txBody>
      </p:sp>
      <p:sp>
        <p:nvSpPr>
          <p:cNvPr id="493" name="Rectangle 52"/>
          <p:cNvSpPr/>
          <p:nvPr/>
        </p:nvSpPr>
        <p:spPr>
          <a:xfrm>
            <a:off x="2971800" y="5971032"/>
            <a:ext cx="3493009" cy="950976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4" name="TextBox 53"/>
          <p:cNvSpPr txBox="1"/>
          <p:nvPr/>
        </p:nvSpPr>
        <p:spPr>
          <a:xfrm>
            <a:off x="3108959" y="6172200"/>
            <a:ext cx="3218690" cy="408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🟢 Thấp</a:t>
            </a:r>
          </a:p>
        </p:txBody>
      </p:sp>
      <p:sp>
        <p:nvSpPr>
          <p:cNvPr id="495" name="Rectangle 54"/>
          <p:cNvSpPr/>
          <p:nvPr/>
        </p:nvSpPr>
        <p:spPr>
          <a:xfrm>
            <a:off x="6537959" y="5971032"/>
            <a:ext cx="3493009" cy="950976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6" name="TextBox 55"/>
          <p:cNvSpPr txBox="1"/>
          <p:nvPr/>
        </p:nvSpPr>
        <p:spPr>
          <a:xfrm>
            <a:off x="6675119" y="6172200"/>
            <a:ext cx="3218689" cy="408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🟢 Thấp</a:t>
            </a:r>
          </a:p>
        </p:txBody>
      </p:sp>
      <p:sp>
        <p:nvSpPr>
          <p:cNvPr id="497" name="Rectangle 56"/>
          <p:cNvSpPr/>
          <p:nvPr/>
        </p:nvSpPr>
        <p:spPr>
          <a:xfrm>
            <a:off x="10104119" y="5971032"/>
            <a:ext cx="3493009" cy="950976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8" name="TextBox 57"/>
          <p:cNvSpPr txBox="1"/>
          <p:nvPr/>
        </p:nvSpPr>
        <p:spPr>
          <a:xfrm>
            <a:off x="10241279" y="6172200"/>
            <a:ext cx="3218689" cy="408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🟡 Trung bình</a:t>
            </a:r>
          </a:p>
        </p:txBody>
      </p:sp>
      <p:sp>
        <p:nvSpPr>
          <p:cNvPr id="499" name="Rectangle 58"/>
          <p:cNvSpPr/>
          <p:nvPr/>
        </p:nvSpPr>
        <p:spPr>
          <a:xfrm>
            <a:off x="13670280" y="5971032"/>
            <a:ext cx="3493009" cy="950976"/>
          </a:xfrm>
          <a:prstGeom prst="rect">
            <a:avLst/>
          </a:prstGeom>
          <a:solidFill>
            <a:srgbClr val="152535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0" name="TextBox 59"/>
          <p:cNvSpPr txBox="1"/>
          <p:nvPr/>
        </p:nvSpPr>
        <p:spPr>
          <a:xfrm>
            <a:off x="13807439" y="6172200"/>
            <a:ext cx="3218689" cy="408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🟡 Trung bình</a:t>
            </a:r>
          </a:p>
        </p:txBody>
      </p:sp>
      <p:sp>
        <p:nvSpPr>
          <p:cNvPr id="501" name="Rectangle 60"/>
          <p:cNvSpPr/>
          <p:nvPr/>
        </p:nvSpPr>
        <p:spPr>
          <a:xfrm>
            <a:off x="1097280" y="6976871"/>
            <a:ext cx="178307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TextBox 61"/>
          <p:cNvSpPr txBox="1"/>
          <p:nvPr/>
        </p:nvSpPr>
        <p:spPr>
          <a:xfrm>
            <a:off x="1234439" y="7178040"/>
            <a:ext cx="1508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Best for</a:t>
            </a:r>
          </a:p>
        </p:txBody>
      </p:sp>
      <p:sp>
        <p:nvSpPr>
          <p:cNvPr id="503" name="Rectangle 62"/>
          <p:cNvSpPr/>
          <p:nvPr/>
        </p:nvSpPr>
        <p:spPr>
          <a:xfrm>
            <a:off x="2971800" y="6976871"/>
            <a:ext cx="349300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4" name="TextBox 63"/>
          <p:cNvSpPr txBox="1"/>
          <p:nvPr/>
        </p:nvSpPr>
        <p:spPr>
          <a:xfrm>
            <a:off x="3108959" y="7178040"/>
            <a:ext cx="321869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MVP, demo</a:t>
            </a:r>
          </a:p>
        </p:txBody>
      </p:sp>
      <p:sp>
        <p:nvSpPr>
          <p:cNvPr id="505" name="Rectangle 64"/>
          <p:cNvSpPr/>
          <p:nvPr/>
        </p:nvSpPr>
        <p:spPr>
          <a:xfrm>
            <a:off x="6537959" y="6976871"/>
            <a:ext cx="349300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6" name="TextBox 65"/>
          <p:cNvSpPr txBox="1"/>
          <p:nvPr/>
        </p:nvSpPr>
        <p:spPr>
          <a:xfrm>
            <a:off x="6675119" y="7178040"/>
            <a:ext cx="3218689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Side project</a:t>
            </a:r>
          </a:p>
        </p:txBody>
      </p:sp>
      <p:sp>
        <p:nvSpPr>
          <p:cNvPr id="507" name="Rectangle 66"/>
          <p:cNvSpPr/>
          <p:nvPr/>
        </p:nvSpPr>
        <p:spPr>
          <a:xfrm>
            <a:off x="10104119" y="6976871"/>
            <a:ext cx="349300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8" name="TextBox 67"/>
          <p:cNvSpPr txBox="1"/>
          <p:nvPr/>
        </p:nvSpPr>
        <p:spPr>
          <a:xfrm>
            <a:off x="10241279" y="7178040"/>
            <a:ext cx="3218689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Production</a:t>
            </a:r>
          </a:p>
        </p:txBody>
      </p:sp>
      <p:sp>
        <p:nvSpPr>
          <p:cNvPr id="509" name="Rectangle 68"/>
          <p:cNvSpPr/>
          <p:nvPr/>
        </p:nvSpPr>
        <p:spPr>
          <a:xfrm>
            <a:off x="13670280" y="6976871"/>
            <a:ext cx="3493009" cy="950976"/>
          </a:xfrm>
          <a:prstGeom prst="rect">
            <a:avLst/>
          </a:prstGeom>
          <a:solidFill>
            <a:srgbClr val="1A2B3C"/>
          </a:solidFill>
          <a:ln>
            <a:solidFill>
              <a:srgbClr val="3040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0" name="TextBox 69"/>
          <p:cNvSpPr txBox="1"/>
          <p:nvPr/>
        </p:nvSpPr>
        <p:spPr>
          <a:xfrm>
            <a:off x="13807439" y="7178040"/>
            <a:ext cx="3218689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Low-traffic</a:t>
            </a:r>
          </a:p>
        </p:txBody>
      </p:sp>
      <p:sp>
        <p:nvSpPr>
          <p:cNvPr id="511" name="Rectangle 70"/>
          <p:cNvSpPr/>
          <p:nvPr/>
        </p:nvSpPr>
        <p:spPr>
          <a:xfrm>
            <a:off x="1097279" y="8686800"/>
            <a:ext cx="16093441" cy="594360"/>
          </a:xfrm>
          <a:prstGeom prst="rect">
            <a:avLst/>
          </a:prstGeom>
          <a:solidFill>
            <a:srgbClr val="0A2A3D"/>
          </a:solidFill>
          <a:ln w="2540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2" name="TextBox 71"/>
          <p:cNvSpPr txBox="1"/>
          <p:nvPr/>
        </p:nvSpPr>
        <p:spPr>
          <a:xfrm>
            <a:off x="1280159" y="8778240"/>
            <a:ext cx="157276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⚠️  Serverless cold start 5-15s. Với AI agent cần response nhanh, container-based (Railway/Render) thường tốt hơn Lambda.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5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6" name="Freeform 5"/>
          <p:cNvSpPr/>
          <p:nvPr/>
        </p:nvSpPr>
        <p:spPr>
          <a:xfrm>
            <a:off x="1028699" y="1028699"/>
            <a:ext cx="7370089" cy="728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7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8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9" name="TextBox 10"/>
          <p:cNvSpPr txBox="1"/>
          <p:nvPr/>
        </p:nvSpPr>
        <p:spPr>
          <a:xfrm>
            <a:off x="1143000" y="10723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Railway — Deploy Trong 5 Phút</a:t>
            </a:r>
          </a:p>
        </p:txBody>
      </p:sp>
      <p:sp>
        <p:nvSpPr>
          <p:cNvPr id="520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1" name="Rectangle 12"/>
          <p:cNvSpPr/>
          <p:nvPr/>
        </p:nvSpPr>
        <p:spPr>
          <a:xfrm>
            <a:off x="1097280" y="2578607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2" name="TextBox 13"/>
          <p:cNvSpPr txBox="1"/>
          <p:nvPr/>
        </p:nvSpPr>
        <p:spPr>
          <a:xfrm>
            <a:off x="1170431" y="2596895"/>
            <a:ext cx="3291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23" name="TextBox 14"/>
          <p:cNvSpPr txBox="1"/>
          <p:nvPr/>
        </p:nvSpPr>
        <p:spPr>
          <a:xfrm>
            <a:off x="1783080" y="2587751"/>
            <a:ext cx="90525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Kết nối GitHub repo</a:t>
            </a:r>
          </a:p>
        </p:txBody>
      </p:sp>
      <p:grpSp>
        <p:nvGrpSpPr>
          <p:cNvPr id="526" name="Rectangle 15"/>
          <p:cNvGrpSpPr/>
          <p:nvPr/>
        </p:nvGrpSpPr>
        <p:grpSpPr>
          <a:xfrm>
            <a:off x="1737360" y="3054095"/>
            <a:ext cx="9144001" cy="475488"/>
            <a:chOff x="0" y="0"/>
            <a:chExt cx="9144000" cy="475487"/>
          </a:xfrm>
        </p:grpSpPr>
        <p:sp>
          <p:nvSpPr>
            <p:cNvPr id="524" name="Rectangle"/>
            <p:cNvSpPr/>
            <p:nvPr/>
          </p:nvSpPr>
          <p:spPr>
            <a:xfrm>
              <a:off x="0" y="-1"/>
              <a:ext cx="9144000" cy="475489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25" name="railway login &amp;&amp; railway init"/>
            <p:cNvSpPr txBox="1"/>
            <p:nvPr/>
          </p:nvSpPr>
          <p:spPr>
            <a:xfrm>
              <a:off x="2972818" y="90423"/>
              <a:ext cx="3198364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railway login &amp;&amp; railway init</a:t>
              </a:r>
            </a:p>
          </p:txBody>
        </p:sp>
      </p:grpSp>
      <p:sp>
        <p:nvSpPr>
          <p:cNvPr id="527" name="Rectangle 16"/>
          <p:cNvSpPr/>
          <p:nvPr/>
        </p:nvSpPr>
        <p:spPr>
          <a:xfrm>
            <a:off x="1097280" y="3913632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8" name="TextBox 17"/>
          <p:cNvSpPr txBox="1"/>
          <p:nvPr/>
        </p:nvSpPr>
        <p:spPr>
          <a:xfrm>
            <a:off x="1170431" y="3931920"/>
            <a:ext cx="3291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29" name="TextBox 18"/>
          <p:cNvSpPr txBox="1"/>
          <p:nvPr/>
        </p:nvSpPr>
        <p:spPr>
          <a:xfrm>
            <a:off x="1783080" y="3922776"/>
            <a:ext cx="90525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Railway tự detect Dockerfile / Nixpacks</a:t>
            </a:r>
          </a:p>
        </p:txBody>
      </p:sp>
      <p:sp>
        <p:nvSpPr>
          <p:cNvPr id="530" name="Rectangle 19"/>
          <p:cNvSpPr/>
          <p:nvPr/>
        </p:nvSpPr>
        <p:spPr>
          <a:xfrm>
            <a:off x="1097280" y="5248655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1" name="TextBox 20"/>
          <p:cNvSpPr txBox="1"/>
          <p:nvPr/>
        </p:nvSpPr>
        <p:spPr>
          <a:xfrm>
            <a:off x="1170431" y="5266944"/>
            <a:ext cx="3291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32" name="TextBox 21"/>
          <p:cNvSpPr txBox="1"/>
          <p:nvPr/>
        </p:nvSpPr>
        <p:spPr>
          <a:xfrm>
            <a:off x="1783080" y="5257800"/>
            <a:ext cx="9052560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Set environment variables</a:t>
            </a:r>
          </a:p>
        </p:txBody>
      </p:sp>
      <p:grpSp>
        <p:nvGrpSpPr>
          <p:cNvPr id="535" name="Rectangle 22"/>
          <p:cNvGrpSpPr/>
          <p:nvPr/>
        </p:nvGrpSpPr>
        <p:grpSpPr>
          <a:xfrm>
            <a:off x="1737360" y="5724144"/>
            <a:ext cx="9144001" cy="475488"/>
            <a:chOff x="0" y="0"/>
            <a:chExt cx="9144000" cy="475487"/>
          </a:xfrm>
        </p:grpSpPr>
        <p:sp>
          <p:nvSpPr>
            <p:cNvPr id="533" name="Rectangle"/>
            <p:cNvSpPr/>
            <p:nvPr/>
          </p:nvSpPr>
          <p:spPr>
            <a:xfrm>
              <a:off x="0" y="-1"/>
              <a:ext cx="9144000" cy="475489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34" name="railway variables set OPENAI_API_KEY=sk-..."/>
            <p:cNvSpPr txBox="1"/>
            <p:nvPr/>
          </p:nvSpPr>
          <p:spPr>
            <a:xfrm>
              <a:off x="2225936" y="90423"/>
              <a:ext cx="4692128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railway variables set OPENAI_API_KEY=sk-...</a:t>
              </a:r>
            </a:p>
          </p:txBody>
        </p:sp>
      </p:grpSp>
      <p:sp>
        <p:nvSpPr>
          <p:cNvPr id="536" name="Rectangle 23"/>
          <p:cNvSpPr/>
          <p:nvPr/>
        </p:nvSpPr>
        <p:spPr>
          <a:xfrm>
            <a:off x="1097280" y="6583680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7" name="TextBox 24"/>
          <p:cNvSpPr txBox="1"/>
          <p:nvPr/>
        </p:nvSpPr>
        <p:spPr>
          <a:xfrm>
            <a:off x="1170431" y="6601968"/>
            <a:ext cx="3291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38" name="TextBox 25"/>
          <p:cNvSpPr txBox="1"/>
          <p:nvPr/>
        </p:nvSpPr>
        <p:spPr>
          <a:xfrm>
            <a:off x="1783080" y="6592823"/>
            <a:ext cx="90525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Click Deploy (hoặc railway up)</a:t>
            </a:r>
          </a:p>
        </p:txBody>
      </p:sp>
      <p:grpSp>
        <p:nvGrpSpPr>
          <p:cNvPr id="541" name="Rectangle 26"/>
          <p:cNvGrpSpPr/>
          <p:nvPr/>
        </p:nvGrpSpPr>
        <p:grpSpPr>
          <a:xfrm>
            <a:off x="1737360" y="7059168"/>
            <a:ext cx="9144001" cy="475488"/>
            <a:chOff x="0" y="0"/>
            <a:chExt cx="9144000" cy="475487"/>
          </a:xfrm>
        </p:grpSpPr>
        <p:sp>
          <p:nvSpPr>
            <p:cNvPr id="539" name="Rectangle"/>
            <p:cNvSpPr/>
            <p:nvPr/>
          </p:nvSpPr>
          <p:spPr>
            <a:xfrm>
              <a:off x="0" y="-1"/>
              <a:ext cx="9144000" cy="475489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40" name="railway up"/>
            <p:cNvSpPr txBox="1"/>
            <p:nvPr/>
          </p:nvSpPr>
          <p:spPr>
            <a:xfrm>
              <a:off x="3986443" y="90423"/>
              <a:ext cx="1171114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railway up</a:t>
              </a:r>
            </a:p>
          </p:txBody>
        </p:sp>
      </p:grpSp>
      <p:sp>
        <p:nvSpPr>
          <p:cNvPr id="542" name="Rectangle 27"/>
          <p:cNvSpPr/>
          <p:nvPr/>
        </p:nvSpPr>
        <p:spPr>
          <a:xfrm>
            <a:off x="1097280" y="7918702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3" name="TextBox 28"/>
          <p:cNvSpPr txBox="1"/>
          <p:nvPr/>
        </p:nvSpPr>
        <p:spPr>
          <a:xfrm>
            <a:off x="1170431" y="7936992"/>
            <a:ext cx="3291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44" name="TextBox 29"/>
          <p:cNvSpPr txBox="1"/>
          <p:nvPr/>
        </p:nvSpPr>
        <p:spPr>
          <a:xfrm>
            <a:off x="1783080" y="7927847"/>
            <a:ext cx="905256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Nhận public URL 🎉</a:t>
            </a:r>
          </a:p>
        </p:txBody>
      </p:sp>
      <p:grpSp>
        <p:nvGrpSpPr>
          <p:cNvPr id="547" name="Rectangle 30"/>
          <p:cNvGrpSpPr/>
          <p:nvPr/>
        </p:nvGrpSpPr>
        <p:grpSpPr>
          <a:xfrm>
            <a:off x="1737360" y="8394192"/>
            <a:ext cx="9144001" cy="475488"/>
            <a:chOff x="0" y="0"/>
            <a:chExt cx="9144000" cy="475487"/>
          </a:xfrm>
        </p:grpSpPr>
        <p:sp>
          <p:nvSpPr>
            <p:cNvPr id="545" name="Rectangle"/>
            <p:cNvSpPr/>
            <p:nvPr/>
          </p:nvSpPr>
          <p:spPr>
            <a:xfrm>
              <a:off x="0" y="-1"/>
              <a:ext cx="9144000" cy="475489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46" name="railway domain  →  your-app.up.railway.app"/>
            <p:cNvSpPr txBox="1"/>
            <p:nvPr/>
          </p:nvSpPr>
          <p:spPr>
            <a:xfrm>
              <a:off x="2279285" y="90423"/>
              <a:ext cx="4585430" cy="294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4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railway domain  →  your-app.up.railway.app</a:t>
              </a:r>
            </a:p>
          </p:txBody>
        </p:sp>
      </p:grpSp>
      <p:sp>
        <p:nvSpPr>
          <p:cNvPr id="548" name="TextBox 31"/>
          <p:cNvSpPr txBox="1"/>
          <p:nvPr/>
        </p:nvSpPr>
        <p:spPr>
          <a:xfrm>
            <a:off x="12115800" y="2468879"/>
            <a:ext cx="49377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railway.toml</a:t>
            </a:r>
          </a:p>
        </p:txBody>
      </p:sp>
      <p:grpSp>
        <p:nvGrpSpPr>
          <p:cNvPr id="551" name="Rectangle 32"/>
          <p:cNvGrpSpPr/>
          <p:nvPr/>
        </p:nvGrpSpPr>
        <p:grpSpPr>
          <a:xfrm>
            <a:off x="12070080" y="2907792"/>
            <a:ext cx="5120641" cy="3383281"/>
            <a:chOff x="0" y="0"/>
            <a:chExt cx="5120640" cy="3383279"/>
          </a:xfrm>
        </p:grpSpPr>
        <p:sp>
          <p:nvSpPr>
            <p:cNvPr id="549" name="Rectangle"/>
            <p:cNvSpPr/>
            <p:nvPr/>
          </p:nvSpPr>
          <p:spPr>
            <a:xfrm>
              <a:off x="-1" y="0"/>
              <a:ext cx="5120642" cy="3383280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50" name="[build]…"/>
            <p:cNvSpPr txBox="1"/>
            <p:nvPr/>
          </p:nvSpPr>
          <p:spPr>
            <a:xfrm>
              <a:off x="313332" y="629919"/>
              <a:ext cx="4493976" cy="2123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>
                <a:defRPr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[build]</a:t>
              </a: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builder = "NIXPACKS"</a:t>
              </a: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[deploy]</a:t>
              </a: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startCommand = "uvicorn app:app</a:t>
              </a: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--host 0.0.0.0 --port $PORT"</a:t>
              </a: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healthcheckPath = "/health"</a:t>
              </a: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restartPolicyType = "ON_FAILURE"</a:t>
              </a:r>
            </a:p>
          </p:txBody>
        </p:sp>
      </p:grpSp>
      <p:sp>
        <p:nvSpPr>
          <p:cNvPr id="552" name="Rectangle 33"/>
          <p:cNvSpPr/>
          <p:nvPr/>
        </p:nvSpPr>
        <p:spPr>
          <a:xfrm>
            <a:off x="1097280" y="9220200"/>
            <a:ext cx="16093440" cy="566928"/>
          </a:xfrm>
          <a:prstGeom prst="rect">
            <a:avLst/>
          </a:prstGeom>
          <a:solidFill>
            <a:srgbClr val="0A2A3D"/>
          </a:solidFill>
          <a:ln w="254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3" name="TextBox 34"/>
          <p:cNvSpPr txBox="1"/>
          <p:nvPr/>
        </p:nvSpPr>
        <p:spPr>
          <a:xfrm>
            <a:off x="1280160" y="9340085"/>
            <a:ext cx="157276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Đặt PORT=8000 trong env vars. Railway inject PORT tự động — agent PHẢI đọc os.getenv('PORT').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6" name="Freeform 3"/>
          <p:cNvSpPr/>
          <p:nvPr/>
        </p:nvSpPr>
        <p:spPr>
          <a:xfrm>
            <a:off x="0" y="-177933"/>
            <a:ext cx="18288000" cy="44958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7" name="Freeform 4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8" name="Freeform 5"/>
          <p:cNvSpPr/>
          <p:nvPr/>
        </p:nvSpPr>
        <p:spPr>
          <a:xfrm>
            <a:off x="13422238" y="8762217"/>
            <a:ext cx="4106320" cy="49608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9" name="Freeform 6"/>
          <p:cNvSpPr/>
          <p:nvPr/>
        </p:nvSpPr>
        <p:spPr>
          <a:xfrm>
            <a:off x="12390119" y="9396590"/>
            <a:ext cx="5138438" cy="28711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0" name="AutoShape 9"/>
          <p:cNvSpPr/>
          <p:nvPr/>
        </p:nvSpPr>
        <p:spPr>
          <a:xfrm>
            <a:off x="4696237" y="2423421"/>
            <a:ext cx="7541483" cy="1"/>
          </a:xfrm>
          <a:prstGeom prst="line">
            <a:avLst/>
          </a:prstGeom>
          <a:ln w="38100">
            <a:solidFill>
              <a:srgbClr val="A6A6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1" name="TextBox 9"/>
          <p:cNvSpPr txBox="1"/>
          <p:nvPr/>
        </p:nvSpPr>
        <p:spPr>
          <a:xfrm>
            <a:off x="1143000" y="2011679"/>
            <a:ext cx="3566160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0000">
                <a:solidFill>
                  <a:srgbClr val="EF5350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62" name="TextBox 10"/>
          <p:cNvSpPr txBox="1"/>
          <p:nvPr/>
        </p:nvSpPr>
        <p:spPr>
          <a:xfrm>
            <a:off x="4617720" y="2834639"/>
            <a:ext cx="12252960" cy="1863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52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pPr>
            <a:r>
              <a:t>API GATEWAY</a:t>
            </a:r>
          </a:p>
          <a:p>
            <a:pPr>
              <a:lnSpc>
                <a:spcPct val="125000"/>
              </a:lnSpc>
              <a:defRPr sz="52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pPr>
            <a:r>
              <a:t>&amp; SECURITY</a:t>
            </a:r>
          </a:p>
        </p:txBody>
      </p:sp>
      <p:sp>
        <p:nvSpPr>
          <p:cNvPr id="563" name="TextBox 11"/>
          <p:cNvSpPr txBox="1"/>
          <p:nvPr/>
        </p:nvSpPr>
        <p:spPr>
          <a:xfrm>
            <a:off x="4617720" y="5029200"/>
            <a:ext cx="12252960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0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Bảo vệ agent trước khi request đến được logic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6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7" name="Freeform 5"/>
          <p:cNvSpPr/>
          <p:nvPr/>
        </p:nvSpPr>
        <p:spPr>
          <a:xfrm>
            <a:off x="1028699" y="1028699"/>
            <a:ext cx="5793792" cy="728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8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9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0" name="TextBox 10"/>
          <p:cNvSpPr txBox="1"/>
          <p:nvPr/>
        </p:nvSpPr>
        <p:spPr>
          <a:xfrm>
            <a:off x="1143000" y="1054997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API Gateway Architecture</a:t>
            </a:r>
          </a:p>
        </p:txBody>
      </p:sp>
      <p:sp>
        <p:nvSpPr>
          <p:cNvPr id="571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2" name="TextBox 12"/>
          <p:cNvSpPr txBox="1"/>
          <p:nvPr/>
        </p:nvSpPr>
        <p:spPr>
          <a:xfrm>
            <a:off x="1142999" y="2331720"/>
            <a:ext cx="160020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Mỗi request PHẢI đi qua đủ các bước trước khi agent xử lý:</a:t>
            </a:r>
          </a:p>
        </p:txBody>
      </p:sp>
      <p:sp>
        <p:nvSpPr>
          <p:cNvPr id="573" name="Rectangle 13"/>
          <p:cNvSpPr/>
          <p:nvPr/>
        </p:nvSpPr>
        <p:spPr>
          <a:xfrm>
            <a:off x="1188719" y="2926079"/>
            <a:ext cx="2148841" cy="1828801"/>
          </a:xfrm>
          <a:prstGeom prst="rect">
            <a:avLst/>
          </a:prstGeom>
          <a:solidFill>
            <a:srgbClr val="1A2B3C"/>
          </a:solidFill>
          <a:ln w="25400">
            <a:solidFill>
              <a:srgbClr val="B0BE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4" name="TextBox 14"/>
          <p:cNvSpPr txBox="1"/>
          <p:nvPr/>
        </p:nvSpPr>
        <p:spPr>
          <a:xfrm>
            <a:off x="1783079" y="3063239"/>
            <a:ext cx="96012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4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🧑‍💻</a:t>
            </a:r>
          </a:p>
        </p:txBody>
      </p:sp>
      <p:sp>
        <p:nvSpPr>
          <p:cNvPr id="575" name="TextBox 15"/>
          <p:cNvSpPr txBox="1"/>
          <p:nvPr/>
        </p:nvSpPr>
        <p:spPr>
          <a:xfrm>
            <a:off x="1325880" y="3611879"/>
            <a:ext cx="1874521" cy="582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998"/>
              </a:lnSpc>
              <a:defRPr b="1" sz="15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Client</a:t>
            </a:r>
          </a:p>
          <a:p>
            <a:pPr algn="ctr">
              <a:lnSpc>
                <a:spcPct val="114998"/>
              </a:lnSpc>
              <a:defRPr b="1" sz="15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Request</a:t>
            </a:r>
          </a:p>
        </p:txBody>
      </p:sp>
      <p:sp>
        <p:nvSpPr>
          <p:cNvPr id="576" name="TextBox 16"/>
          <p:cNvSpPr txBox="1"/>
          <p:nvPr/>
        </p:nvSpPr>
        <p:spPr>
          <a:xfrm>
            <a:off x="3447288" y="3547871"/>
            <a:ext cx="41148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4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77" name="Rectangle 17"/>
          <p:cNvSpPr/>
          <p:nvPr/>
        </p:nvSpPr>
        <p:spPr>
          <a:xfrm>
            <a:off x="3611879" y="2926079"/>
            <a:ext cx="2148841" cy="1828801"/>
          </a:xfrm>
          <a:prstGeom prst="rect">
            <a:avLst/>
          </a:prstGeom>
          <a:solidFill>
            <a:srgbClr val="1A2B3C"/>
          </a:solidFill>
          <a:ln w="2540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8" name="TextBox 18"/>
          <p:cNvSpPr txBox="1"/>
          <p:nvPr/>
        </p:nvSpPr>
        <p:spPr>
          <a:xfrm>
            <a:off x="4206240" y="3063239"/>
            <a:ext cx="96012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4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🔐</a:t>
            </a:r>
          </a:p>
        </p:txBody>
      </p:sp>
      <p:sp>
        <p:nvSpPr>
          <p:cNvPr id="579" name="TextBox 19"/>
          <p:cNvSpPr txBox="1"/>
          <p:nvPr/>
        </p:nvSpPr>
        <p:spPr>
          <a:xfrm>
            <a:off x="3749040" y="3611879"/>
            <a:ext cx="1874521" cy="582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998"/>
              </a:lnSpc>
              <a:defRPr b="1" sz="15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Auth</a:t>
            </a:r>
          </a:p>
          <a:p>
            <a:pPr algn="ctr">
              <a:lnSpc>
                <a:spcPct val="114998"/>
              </a:lnSpc>
              <a:defRPr b="1" sz="15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Check</a:t>
            </a:r>
          </a:p>
        </p:txBody>
      </p:sp>
      <p:sp>
        <p:nvSpPr>
          <p:cNvPr id="580" name="TextBox 20"/>
          <p:cNvSpPr txBox="1"/>
          <p:nvPr/>
        </p:nvSpPr>
        <p:spPr>
          <a:xfrm>
            <a:off x="5870448" y="3547871"/>
            <a:ext cx="41148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4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81" name="Rectangle 21"/>
          <p:cNvSpPr/>
          <p:nvPr/>
        </p:nvSpPr>
        <p:spPr>
          <a:xfrm>
            <a:off x="6035040" y="2926079"/>
            <a:ext cx="2148841" cy="1828801"/>
          </a:xfrm>
          <a:prstGeom prst="rect">
            <a:avLst/>
          </a:prstGeom>
          <a:solidFill>
            <a:srgbClr val="1A2B3C"/>
          </a:solidFill>
          <a:ln w="2540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2" name="TextBox 22"/>
          <p:cNvSpPr txBox="1"/>
          <p:nvPr/>
        </p:nvSpPr>
        <p:spPr>
          <a:xfrm>
            <a:off x="6629398" y="3063239"/>
            <a:ext cx="96012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4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⏱️</a:t>
            </a:r>
          </a:p>
        </p:txBody>
      </p:sp>
      <p:sp>
        <p:nvSpPr>
          <p:cNvPr id="583" name="TextBox 23"/>
          <p:cNvSpPr txBox="1"/>
          <p:nvPr/>
        </p:nvSpPr>
        <p:spPr>
          <a:xfrm>
            <a:off x="6172199" y="3611879"/>
            <a:ext cx="1874521" cy="582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998"/>
              </a:lnSpc>
              <a:defRPr b="1" sz="15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Rate</a:t>
            </a:r>
          </a:p>
          <a:p>
            <a:pPr algn="ctr">
              <a:lnSpc>
                <a:spcPct val="114998"/>
              </a:lnSpc>
              <a:defRPr b="1" sz="15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Limiter</a:t>
            </a:r>
          </a:p>
        </p:txBody>
      </p:sp>
      <p:sp>
        <p:nvSpPr>
          <p:cNvPr id="584" name="TextBox 24"/>
          <p:cNvSpPr txBox="1"/>
          <p:nvPr/>
        </p:nvSpPr>
        <p:spPr>
          <a:xfrm>
            <a:off x="8293607" y="3547871"/>
            <a:ext cx="41148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4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85" name="Rectangle 25"/>
          <p:cNvSpPr/>
          <p:nvPr/>
        </p:nvSpPr>
        <p:spPr>
          <a:xfrm>
            <a:off x="8458200" y="2926079"/>
            <a:ext cx="2148840" cy="1828801"/>
          </a:xfrm>
          <a:prstGeom prst="rect">
            <a:avLst/>
          </a:prstGeom>
          <a:solidFill>
            <a:srgbClr val="1A2B3C"/>
          </a:solidFill>
          <a:ln w="25400">
            <a:solidFill>
              <a:srgbClr val="FFEE5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6" name="TextBox 26"/>
          <p:cNvSpPr txBox="1"/>
          <p:nvPr/>
        </p:nvSpPr>
        <p:spPr>
          <a:xfrm>
            <a:off x="9052559" y="3063239"/>
            <a:ext cx="96012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4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</a:t>
            </a:r>
          </a:p>
        </p:txBody>
      </p:sp>
      <p:sp>
        <p:nvSpPr>
          <p:cNvPr id="587" name="TextBox 27"/>
          <p:cNvSpPr txBox="1"/>
          <p:nvPr/>
        </p:nvSpPr>
        <p:spPr>
          <a:xfrm>
            <a:off x="8595359" y="3611879"/>
            <a:ext cx="1874521" cy="582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998"/>
              </a:lnSpc>
              <a:defRPr b="1" sz="1500">
                <a:solidFill>
                  <a:srgbClr val="FFEE58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Input</a:t>
            </a:r>
          </a:p>
          <a:p>
            <a:pPr algn="ctr">
              <a:lnSpc>
                <a:spcPct val="114998"/>
              </a:lnSpc>
              <a:defRPr b="1" sz="1500">
                <a:solidFill>
                  <a:srgbClr val="FFEE58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Validate</a:t>
            </a:r>
          </a:p>
        </p:txBody>
      </p:sp>
      <p:sp>
        <p:nvSpPr>
          <p:cNvPr id="588" name="TextBox 28"/>
          <p:cNvSpPr txBox="1"/>
          <p:nvPr/>
        </p:nvSpPr>
        <p:spPr>
          <a:xfrm>
            <a:off x="10716767" y="3547871"/>
            <a:ext cx="41148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4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89" name="Rectangle 29"/>
          <p:cNvSpPr/>
          <p:nvPr/>
        </p:nvSpPr>
        <p:spPr>
          <a:xfrm>
            <a:off x="10881359" y="2926079"/>
            <a:ext cx="2148841" cy="1828801"/>
          </a:xfrm>
          <a:prstGeom prst="rect">
            <a:avLst/>
          </a:prstGeom>
          <a:solidFill>
            <a:srgbClr val="1A2B3C"/>
          </a:solidFill>
          <a:ln w="254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TextBox 30"/>
          <p:cNvSpPr txBox="1"/>
          <p:nvPr/>
        </p:nvSpPr>
        <p:spPr>
          <a:xfrm>
            <a:off x="11475719" y="3063239"/>
            <a:ext cx="96012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4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💰</a:t>
            </a:r>
          </a:p>
        </p:txBody>
      </p:sp>
      <p:sp>
        <p:nvSpPr>
          <p:cNvPr id="591" name="TextBox 31"/>
          <p:cNvSpPr txBox="1"/>
          <p:nvPr/>
        </p:nvSpPr>
        <p:spPr>
          <a:xfrm>
            <a:off x="11018519" y="3611879"/>
            <a:ext cx="1874521" cy="582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998"/>
              </a:lnSpc>
              <a:defRPr b="1" sz="15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Cost</a:t>
            </a:r>
          </a:p>
          <a:p>
            <a:pPr algn="ctr">
              <a:lnSpc>
                <a:spcPct val="114998"/>
              </a:lnSpc>
              <a:defRPr b="1" sz="15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Check</a:t>
            </a:r>
          </a:p>
        </p:txBody>
      </p:sp>
      <p:sp>
        <p:nvSpPr>
          <p:cNvPr id="592" name="TextBox 32"/>
          <p:cNvSpPr txBox="1"/>
          <p:nvPr/>
        </p:nvSpPr>
        <p:spPr>
          <a:xfrm>
            <a:off x="13139928" y="3547871"/>
            <a:ext cx="41148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4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93" name="Rectangle 33"/>
          <p:cNvSpPr/>
          <p:nvPr/>
        </p:nvSpPr>
        <p:spPr>
          <a:xfrm>
            <a:off x="13304519" y="2926079"/>
            <a:ext cx="2148841" cy="1828801"/>
          </a:xfrm>
          <a:prstGeom prst="rect">
            <a:avLst/>
          </a:prstGeom>
          <a:solidFill>
            <a:srgbClr val="1A2B3C"/>
          </a:solidFill>
          <a:ln w="254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4" name="TextBox 34"/>
          <p:cNvSpPr txBox="1"/>
          <p:nvPr/>
        </p:nvSpPr>
        <p:spPr>
          <a:xfrm>
            <a:off x="13898880" y="3063239"/>
            <a:ext cx="96012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4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🤖</a:t>
            </a:r>
          </a:p>
        </p:txBody>
      </p:sp>
      <p:sp>
        <p:nvSpPr>
          <p:cNvPr id="595" name="TextBox 35"/>
          <p:cNvSpPr txBox="1"/>
          <p:nvPr/>
        </p:nvSpPr>
        <p:spPr>
          <a:xfrm>
            <a:off x="13441680" y="3611879"/>
            <a:ext cx="1874521" cy="582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998"/>
              </a:lnSpc>
              <a:defRPr b="1" sz="15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Agent</a:t>
            </a:r>
          </a:p>
          <a:p>
            <a:pPr algn="ctr">
              <a:lnSpc>
                <a:spcPct val="114998"/>
              </a:lnSpc>
              <a:defRPr b="1" sz="15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Process</a:t>
            </a:r>
          </a:p>
        </p:txBody>
      </p:sp>
      <p:sp>
        <p:nvSpPr>
          <p:cNvPr id="596" name="Rectangle 36"/>
          <p:cNvSpPr/>
          <p:nvPr/>
        </p:nvSpPr>
        <p:spPr>
          <a:xfrm>
            <a:off x="3611879" y="5074920"/>
            <a:ext cx="2148841" cy="1143001"/>
          </a:xfrm>
          <a:prstGeom prst="rect">
            <a:avLst/>
          </a:prstGeom>
          <a:solidFill>
            <a:srgbClr val="2A1010"/>
          </a:solidFill>
          <a:ln w="1905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7" name="TextBox 37"/>
          <p:cNvSpPr txBox="1"/>
          <p:nvPr/>
        </p:nvSpPr>
        <p:spPr>
          <a:xfrm>
            <a:off x="3749040" y="5257800"/>
            <a:ext cx="1874521" cy="555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998"/>
              </a:lnSpc>
              <a:defRPr sz="14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401</a:t>
            </a:r>
          </a:p>
          <a:p>
            <a:pPr algn="ctr">
              <a:lnSpc>
                <a:spcPct val="114998"/>
              </a:lnSpc>
              <a:defRPr sz="14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Unauthorized</a:t>
            </a:r>
          </a:p>
        </p:txBody>
      </p:sp>
      <p:sp>
        <p:nvSpPr>
          <p:cNvPr id="598" name="TextBox 38"/>
          <p:cNvSpPr txBox="1"/>
          <p:nvPr/>
        </p:nvSpPr>
        <p:spPr>
          <a:xfrm>
            <a:off x="4480560" y="4754879"/>
            <a:ext cx="41148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599" name="Rectangle 39"/>
          <p:cNvSpPr/>
          <p:nvPr/>
        </p:nvSpPr>
        <p:spPr>
          <a:xfrm>
            <a:off x="6035040" y="5074920"/>
            <a:ext cx="2148841" cy="1143001"/>
          </a:xfrm>
          <a:prstGeom prst="rect">
            <a:avLst/>
          </a:prstGeom>
          <a:solidFill>
            <a:srgbClr val="2A1010"/>
          </a:solidFill>
          <a:ln w="1905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" name="TextBox 40"/>
          <p:cNvSpPr txBox="1"/>
          <p:nvPr/>
        </p:nvSpPr>
        <p:spPr>
          <a:xfrm>
            <a:off x="6172199" y="5257800"/>
            <a:ext cx="1874521" cy="555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998"/>
              </a:lnSpc>
              <a:defRPr sz="14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429</a:t>
            </a:r>
          </a:p>
          <a:p>
            <a:pPr algn="ctr">
              <a:lnSpc>
                <a:spcPct val="114998"/>
              </a:lnSpc>
              <a:defRPr sz="14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Too Many</a:t>
            </a:r>
          </a:p>
        </p:txBody>
      </p:sp>
      <p:sp>
        <p:nvSpPr>
          <p:cNvPr id="601" name="TextBox 41"/>
          <p:cNvSpPr txBox="1"/>
          <p:nvPr/>
        </p:nvSpPr>
        <p:spPr>
          <a:xfrm>
            <a:off x="6903719" y="4754879"/>
            <a:ext cx="41148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602" name="Rectangle 42"/>
          <p:cNvSpPr/>
          <p:nvPr/>
        </p:nvSpPr>
        <p:spPr>
          <a:xfrm>
            <a:off x="8458200" y="5074920"/>
            <a:ext cx="2148840" cy="1143001"/>
          </a:xfrm>
          <a:prstGeom prst="rect">
            <a:avLst/>
          </a:prstGeom>
          <a:solidFill>
            <a:srgbClr val="2A1010"/>
          </a:solidFill>
          <a:ln w="1905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3" name="TextBox 43"/>
          <p:cNvSpPr txBox="1"/>
          <p:nvPr/>
        </p:nvSpPr>
        <p:spPr>
          <a:xfrm>
            <a:off x="8595359" y="5257800"/>
            <a:ext cx="1874521" cy="555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998"/>
              </a:lnSpc>
              <a:defRPr sz="14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422</a:t>
            </a:r>
          </a:p>
          <a:p>
            <a:pPr algn="ctr">
              <a:lnSpc>
                <a:spcPct val="114998"/>
              </a:lnSpc>
              <a:defRPr sz="14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Invalid</a:t>
            </a:r>
          </a:p>
        </p:txBody>
      </p:sp>
      <p:sp>
        <p:nvSpPr>
          <p:cNvPr id="604" name="TextBox 44"/>
          <p:cNvSpPr txBox="1"/>
          <p:nvPr/>
        </p:nvSpPr>
        <p:spPr>
          <a:xfrm>
            <a:off x="9326879" y="4754879"/>
            <a:ext cx="41148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605" name="Rectangle 45"/>
          <p:cNvSpPr/>
          <p:nvPr/>
        </p:nvSpPr>
        <p:spPr>
          <a:xfrm>
            <a:off x="10881359" y="5074920"/>
            <a:ext cx="2148841" cy="1143001"/>
          </a:xfrm>
          <a:prstGeom prst="rect">
            <a:avLst/>
          </a:prstGeom>
          <a:solidFill>
            <a:srgbClr val="2A1010"/>
          </a:solidFill>
          <a:ln w="1905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6" name="TextBox 46"/>
          <p:cNvSpPr txBox="1"/>
          <p:nvPr/>
        </p:nvSpPr>
        <p:spPr>
          <a:xfrm>
            <a:off x="11018519" y="5257800"/>
            <a:ext cx="1874521" cy="555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14998"/>
              </a:lnSpc>
              <a:defRPr sz="14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402</a:t>
            </a:r>
          </a:p>
          <a:p>
            <a:pPr algn="ctr">
              <a:lnSpc>
                <a:spcPct val="114998"/>
              </a:lnSpc>
              <a:defRPr sz="14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Budget</a:t>
            </a:r>
          </a:p>
        </p:txBody>
      </p:sp>
      <p:sp>
        <p:nvSpPr>
          <p:cNvPr id="607" name="TextBox 47"/>
          <p:cNvSpPr txBox="1"/>
          <p:nvPr/>
        </p:nvSpPr>
        <p:spPr>
          <a:xfrm>
            <a:off x="11750039" y="4754879"/>
            <a:ext cx="41148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608" name="Rectangle 48"/>
          <p:cNvSpPr/>
          <p:nvPr/>
        </p:nvSpPr>
        <p:spPr>
          <a:xfrm>
            <a:off x="1097279" y="8686800"/>
            <a:ext cx="16093441" cy="566928"/>
          </a:xfrm>
          <a:prstGeom prst="rect">
            <a:avLst/>
          </a:prstGeom>
          <a:solidFill>
            <a:srgbClr val="0A2A3D"/>
          </a:solidFill>
          <a:ln w="2540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9" name="TextBox 49"/>
          <p:cNvSpPr txBox="1"/>
          <p:nvPr/>
        </p:nvSpPr>
        <p:spPr>
          <a:xfrm>
            <a:off x="1280159" y="8778240"/>
            <a:ext cx="157276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Reject sớm = tiết kiệm tokens. Mỗi request vượt qua Auth + Rate Limit + Validate mới được phép gọi LLM.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2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3" name="Freeform 5"/>
          <p:cNvSpPr/>
          <p:nvPr/>
        </p:nvSpPr>
        <p:spPr>
          <a:xfrm>
            <a:off x="1028699" y="1028700"/>
            <a:ext cx="5440822" cy="72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4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5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6" name="TextBox 10"/>
          <p:cNvSpPr txBox="1"/>
          <p:nvPr/>
        </p:nvSpPr>
        <p:spPr>
          <a:xfrm>
            <a:off x="1143000" y="10469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Authentication Patterns</a:t>
            </a:r>
          </a:p>
        </p:txBody>
      </p:sp>
      <p:sp>
        <p:nvSpPr>
          <p:cNvPr id="617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8" name="Rectangle 12"/>
          <p:cNvSpPr/>
          <p:nvPr/>
        </p:nvSpPr>
        <p:spPr>
          <a:xfrm>
            <a:off x="1097279" y="2468879"/>
            <a:ext cx="5349242" cy="6400801"/>
          </a:xfrm>
          <a:prstGeom prst="rect">
            <a:avLst/>
          </a:prstGeom>
          <a:solidFill>
            <a:srgbClr val="1A2B3C"/>
          </a:solidFill>
          <a:ln w="254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TextBox 13"/>
          <p:cNvSpPr txBox="1"/>
          <p:nvPr/>
        </p:nvSpPr>
        <p:spPr>
          <a:xfrm>
            <a:off x="1280158" y="2578607"/>
            <a:ext cx="498348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600">
                <a:solidFill>
                  <a:srgbClr val="4FC3F7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API Key</a:t>
            </a:r>
          </a:p>
        </p:txBody>
      </p:sp>
      <p:sp>
        <p:nvSpPr>
          <p:cNvPr id="620" name="Rectangle 14"/>
          <p:cNvSpPr/>
          <p:nvPr/>
        </p:nvSpPr>
        <p:spPr>
          <a:xfrm>
            <a:off x="1234438" y="3108960"/>
            <a:ext cx="5074922" cy="438913"/>
          </a:xfrm>
          <a:prstGeom prst="rect">
            <a:avLst/>
          </a:prstGeom>
          <a:solidFill>
            <a:srgbClr val="1E1E2E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1" name="TextBox 15"/>
          <p:cNvSpPr txBox="1"/>
          <p:nvPr/>
        </p:nvSpPr>
        <p:spPr>
          <a:xfrm>
            <a:off x="1371599" y="3182111"/>
            <a:ext cx="480060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300">
                <a:solidFill>
                  <a:srgbClr val="4FC3F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Header: X-API-Key: sk-xxx</a:t>
            </a:r>
          </a:p>
        </p:txBody>
      </p:sp>
      <p:sp>
        <p:nvSpPr>
          <p:cNvPr id="622" name="TextBox 16"/>
          <p:cNvSpPr txBox="1"/>
          <p:nvPr/>
        </p:nvSpPr>
        <p:spPr>
          <a:xfrm>
            <a:off x="1325880" y="3703320"/>
            <a:ext cx="48920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Đơn giản nhất</a:t>
            </a:r>
          </a:p>
        </p:txBody>
      </p:sp>
      <p:sp>
        <p:nvSpPr>
          <p:cNvPr id="623" name="TextBox 17"/>
          <p:cNvSpPr txBox="1"/>
          <p:nvPr/>
        </p:nvSpPr>
        <p:spPr>
          <a:xfrm>
            <a:off x="1325880" y="4389120"/>
            <a:ext cx="48920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Stateless</a:t>
            </a:r>
          </a:p>
        </p:txBody>
      </p:sp>
      <p:sp>
        <p:nvSpPr>
          <p:cNvPr id="624" name="TextBox 18"/>
          <p:cNvSpPr txBox="1"/>
          <p:nvPr/>
        </p:nvSpPr>
        <p:spPr>
          <a:xfrm>
            <a:off x="1325880" y="5074920"/>
            <a:ext cx="48920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Dễ rotate</a:t>
            </a:r>
          </a:p>
        </p:txBody>
      </p:sp>
      <p:sp>
        <p:nvSpPr>
          <p:cNvPr id="625" name="TextBox 19"/>
          <p:cNvSpPr txBox="1"/>
          <p:nvPr/>
        </p:nvSpPr>
        <p:spPr>
          <a:xfrm>
            <a:off x="1325880" y="5760720"/>
            <a:ext cx="48920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Phù hợp B2B / internal</a:t>
            </a:r>
          </a:p>
        </p:txBody>
      </p:sp>
      <p:sp>
        <p:nvSpPr>
          <p:cNvPr id="626" name="Rectangle 20"/>
          <p:cNvSpPr/>
          <p:nvPr/>
        </p:nvSpPr>
        <p:spPr>
          <a:xfrm>
            <a:off x="1234438" y="8087359"/>
            <a:ext cx="5074922" cy="43891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TextBox 21"/>
          <p:cNvSpPr txBox="1"/>
          <p:nvPr/>
        </p:nvSpPr>
        <p:spPr>
          <a:xfrm>
            <a:off x="1325880" y="8156447"/>
            <a:ext cx="489204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3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Dùng khi: MVP, demo, internal API</a:t>
            </a:r>
          </a:p>
        </p:txBody>
      </p:sp>
      <p:sp>
        <p:nvSpPr>
          <p:cNvPr id="628" name="Rectangle 22"/>
          <p:cNvSpPr/>
          <p:nvPr/>
        </p:nvSpPr>
        <p:spPr>
          <a:xfrm>
            <a:off x="6720840" y="2468879"/>
            <a:ext cx="5349241" cy="6400801"/>
          </a:xfrm>
          <a:prstGeom prst="rect">
            <a:avLst/>
          </a:prstGeom>
          <a:solidFill>
            <a:srgbClr val="1A2B3C"/>
          </a:solidFill>
          <a:ln w="254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9" name="TextBox 23"/>
          <p:cNvSpPr txBox="1"/>
          <p:nvPr/>
        </p:nvSpPr>
        <p:spPr>
          <a:xfrm>
            <a:off x="6903719" y="2578607"/>
            <a:ext cx="498348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600">
                <a:solidFill>
                  <a:srgbClr val="81C784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JWT Token</a:t>
            </a:r>
          </a:p>
        </p:txBody>
      </p:sp>
      <p:sp>
        <p:nvSpPr>
          <p:cNvPr id="630" name="Rectangle 24"/>
          <p:cNvSpPr/>
          <p:nvPr/>
        </p:nvSpPr>
        <p:spPr>
          <a:xfrm>
            <a:off x="6858000" y="3108960"/>
            <a:ext cx="5074921" cy="438913"/>
          </a:xfrm>
          <a:prstGeom prst="rect">
            <a:avLst/>
          </a:prstGeom>
          <a:solidFill>
            <a:srgbClr val="1E1E2E"/>
          </a:solidFill>
          <a:ln w="127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1" name="TextBox 25"/>
          <p:cNvSpPr txBox="1"/>
          <p:nvPr/>
        </p:nvSpPr>
        <p:spPr>
          <a:xfrm>
            <a:off x="6995159" y="3182111"/>
            <a:ext cx="480060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300">
                <a:solidFill>
                  <a:srgbClr val="81C78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Bearer eyJhbGciOiJIUzI1...</a:t>
            </a:r>
          </a:p>
        </p:txBody>
      </p:sp>
      <p:sp>
        <p:nvSpPr>
          <p:cNvPr id="632" name="TextBox 26"/>
          <p:cNvSpPr txBox="1"/>
          <p:nvPr/>
        </p:nvSpPr>
        <p:spPr>
          <a:xfrm>
            <a:off x="6949439" y="3703320"/>
            <a:ext cx="48920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Stateless auth</a:t>
            </a:r>
          </a:p>
        </p:txBody>
      </p:sp>
      <p:sp>
        <p:nvSpPr>
          <p:cNvPr id="633" name="TextBox 27"/>
          <p:cNvSpPr txBox="1"/>
          <p:nvPr/>
        </p:nvSpPr>
        <p:spPr>
          <a:xfrm>
            <a:off x="6949439" y="4389120"/>
            <a:ext cx="48920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Chứa user info</a:t>
            </a:r>
          </a:p>
        </p:txBody>
      </p:sp>
      <p:sp>
        <p:nvSpPr>
          <p:cNvPr id="634" name="TextBox 28"/>
          <p:cNvSpPr txBox="1"/>
          <p:nvPr/>
        </p:nvSpPr>
        <p:spPr>
          <a:xfrm>
            <a:off x="6949439" y="5074920"/>
            <a:ext cx="48920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Có expiry time</a:t>
            </a:r>
          </a:p>
        </p:txBody>
      </p:sp>
      <p:sp>
        <p:nvSpPr>
          <p:cNvPr id="635" name="TextBox 29"/>
          <p:cNvSpPr txBox="1"/>
          <p:nvPr/>
        </p:nvSpPr>
        <p:spPr>
          <a:xfrm>
            <a:off x="6949439" y="5760720"/>
            <a:ext cx="48920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Không cần DB check</a:t>
            </a:r>
          </a:p>
        </p:txBody>
      </p:sp>
      <p:sp>
        <p:nvSpPr>
          <p:cNvPr id="636" name="Rectangle 30"/>
          <p:cNvSpPr/>
          <p:nvPr/>
        </p:nvSpPr>
        <p:spPr>
          <a:xfrm>
            <a:off x="6858000" y="8087359"/>
            <a:ext cx="5074921" cy="438913"/>
          </a:xfrm>
          <a:prstGeom prst="rect">
            <a:avLst/>
          </a:prstGeom>
          <a:solidFill>
            <a:srgbClr val="81C7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7" name="TextBox 31"/>
          <p:cNvSpPr txBox="1"/>
          <p:nvPr/>
        </p:nvSpPr>
        <p:spPr>
          <a:xfrm>
            <a:off x="6949439" y="8156447"/>
            <a:ext cx="489204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3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Dùng khi: User-facing app, SaaS</a:t>
            </a:r>
          </a:p>
        </p:txBody>
      </p:sp>
      <p:sp>
        <p:nvSpPr>
          <p:cNvPr id="638" name="Rectangle 32"/>
          <p:cNvSpPr/>
          <p:nvPr/>
        </p:nvSpPr>
        <p:spPr>
          <a:xfrm>
            <a:off x="12344400" y="2468879"/>
            <a:ext cx="5349241" cy="6400801"/>
          </a:xfrm>
          <a:prstGeom prst="rect">
            <a:avLst/>
          </a:prstGeom>
          <a:solidFill>
            <a:srgbClr val="1A2B3C"/>
          </a:solidFill>
          <a:ln w="2540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9" name="TextBox 33"/>
          <p:cNvSpPr txBox="1"/>
          <p:nvPr/>
        </p:nvSpPr>
        <p:spPr>
          <a:xfrm>
            <a:off x="12527279" y="2578607"/>
            <a:ext cx="498348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600">
                <a:solidFill>
                  <a:srgbClr val="FFB74D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OAuth2</a:t>
            </a:r>
          </a:p>
        </p:txBody>
      </p:sp>
      <p:sp>
        <p:nvSpPr>
          <p:cNvPr id="640" name="Rectangle 34"/>
          <p:cNvSpPr/>
          <p:nvPr/>
        </p:nvSpPr>
        <p:spPr>
          <a:xfrm>
            <a:off x="12481559" y="3108960"/>
            <a:ext cx="5074921" cy="438913"/>
          </a:xfrm>
          <a:prstGeom prst="rect">
            <a:avLst/>
          </a:prstGeom>
          <a:solidFill>
            <a:srgbClr val="1E1E2E"/>
          </a:solidFill>
          <a:ln w="1270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1" name="TextBox 35"/>
          <p:cNvSpPr txBox="1"/>
          <p:nvPr/>
        </p:nvSpPr>
        <p:spPr>
          <a:xfrm>
            <a:off x="12618719" y="3182111"/>
            <a:ext cx="480060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300">
                <a:solidFill>
                  <a:srgbClr val="FFB74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Third-party login (Google...)</a:t>
            </a:r>
          </a:p>
        </p:txBody>
      </p:sp>
      <p:sp>
        <p:nvSpPr>
          <p:cNvPr id="642" name="TextBox 36"/>
          <p:cNvSpPr txBox="1"/>
          <p:nvPr/>
        </p:nvSpPr>
        <p:spPr>
          <a:xfrm>
            <a:off x="12573000" y="3703320"/>
            <a:ext cx="48920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Delegated auth</a:t>
            </a:r>
          </a:p>
        </p:txBody>
      </p:sp>
      <p:sp>
        <p:nvSpPr>
          <p:cNvPr id="643" name="TextBox 37"/>
          <p:cNvSpPr txBox="1"/>
          <p:nvPr/>
        </p:nvSpPr>
        <p:spPr>
          <a:xfrm>
            <a:off x="12573000" y="4389120"/>
            <a:ext cx="48920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User không nhớ password</a:t>
            </a:r>
          </a:p>
        </p:txBody>
      </p:sp>
      <p:sp>
        <p:nvSpPr>
          <p:cNvPr id="644" name="TextBox 38"/>
          <p:cNvSpPr txBox="1"/>
          <p:nvPr/>
        </p:nvSpPr>
        <p:spPr>
          <a:xfrm>
            <a:off x="12573000" y="5074920"/>
            <a:ext cx="48920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Revoke dễ dàng</a:t>
            </a:r>
          </a:p>
        </p:txBody>
      </p:sp>
      <p:sp>
        <p:nvSpPr>
          <p:cNvPr id="645" name="TextBox 39"/>
          <p:cNvSpPr txBox="1"/>
          <p:nvPr/>
        </p:nvSpPr>
        <p:spPr>
          <a:xfrm>
            <a:off x="12573000" y="5760720"/>
            <a:ext cx="48920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Social login</a:t>
            </a:r>
          </a:p>
        </p:txBody>
      </p:sp>
      <p:sp>
        <p:nvSpPr>
          <p:cNvPr id="646" name="Rectangle 40"/>
          <p:cNvSpPr/>
          <p:nvPr/>
        </p:nvSpPr>
        <p:spPr>
          <a:xfrm>
            <a:off x="12481559" y="8087359"/>
            <a:ext cx="5074921" cy="438913"/>
          </a:xfrm>
          <a:prstGeom prst="rect">
            <a:avLst/>
          </a:prstGeom>
          <a:solidFill>
            <a:srgbClr val="FFB74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TextBox 41"/>
          <p:cNvSpPr txBox="1"/>
          <p:nvPr/>
        </p:nvSpPr>
        <p:spPr>
          <a:xfrm>
            <a:off x="12573000" y="8156447"/>
            <a:ext cx="489204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3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Dùng khi: Platform, marketplace</a:t>
            </a:r>
          </a:p>
        </p:txBody>
      </p:sp>
      <p:sp>
        <p:nvSpPr>
          <p:cNvPr id="648" name="Rectangle 42"/>
          <p:cNvSpPr/>
          <p:nvPr/>
        </p:nvSpPr>
        <p:spPr>
          <a:xfrm>
            <a:off x="1097279" y="8741664"/>
            <a:ext cx="16093441" cy="566929"/>
          </a:xfrm>
          <a:prstGeom prst="rect">
            <a:avLst/>
          </a:prstGeom>
          <a:solidFill>
            <a:srgbClr val="0A2A3D"/>
          </a:solidFill>
          <a:ln w="254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9" name="TextBox 43"/>
          <p:cNvSpPr txBox="1"/>
          <p:nvPr/>
        </p:nvSpPr>
        <p:spPr>
          <a:xfrm>
            <a:off x="1280159" y="8833104"/>
            <a:ext cx="157276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Cho MVP: API key là đủ. Đừng over-engineer auth trước khi có user thật.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2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3" name="Freeform 5"/>
          <p:cNvSpPr/>
          <p:nvPr/>
        </p:nvSpPr>
        <p:spPr>
          <a:xfrm>
            <a:off x="1028699" y="1028699"/>
            <a:ext cx="10619100" cy="728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4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5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6" name="TextBox 10"/>
          <p:cNvSpPr txBox="1"/>
          <p:nvPr/>
        </p:nvSpPr>
        <p:spPr>
          <a:xfrm>
            <a:off x="1143000" y="10596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Cost Protection — Đừng Để Agent Đốt Hết Tiền</a:t>
            </a:r>
          </a:p>
        </p:txBody>
      </p:sp>
      <p:sp>
        <p:nvSpPr>
          <p:cNvPr id="657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8" name="TextBox 12"/>
          <p:cNvSpPr txBox="1"/>
          <p:nvPr/>
        </p:nvSpPr>
        <p:spPr>
          <a:xfrm>
            <a:off x="1143000" y="2423160"/>
            <a:ext cx="722376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20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🚨  Rủi Ro</a:t>
            </a:r>
          </a:p>
        </p:txBody>
      </p:sp>
      <p:sp>
        <p:nvSpPr>
          <p:cNvPr id="659" name="Rectangle 13"/>
          <p:cNvSpPr/>
          <p:nvPr/>
        </p:nvSpPr>
        <p:spPr>
          <a:xfrm>
            <a:off x="1097280" y="3017520"/>
            <a:ext cx="7589519" cy="960121"/>
          </a:xfrm>
          <a:prstGeom prst="rect">
            <a:avLst/>
          </a:prstGeom>
          <a:solidFill>
            <a:srgbClr val="2A1010"/>
          </a:solidFill>
          <a:ln w="1270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0" name="TextBox 14"/>
          <p:cNvSpPr txBox="1"/>
          <p:nvPr/>
        </p:nvSpPr>
        <p:spPr>
          <a:xfrm>
            <a:off x="1280159" y="3136392"/>
            <a:ext cx="72237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⚠  1 user spam 10.000 requests → bill khổng lồ</a:t>
            </a:r>
          </a:p>
        </p:txBody>
      </p:sp>
      <p:sp>
        <p:nvSpPr>
          <p:cNvPr id="661" name="Rectangle 15"/>
          <p:cNvSpPr/>
          <p:nvPr/>
        </p:nvSpPr>
        <p:spPr>
          <a:xfrm>
            <a:off x="1097280" y="4114800"/>
            <a:ext cx="7589519" cy="960120"/>
          </a:xfrm>
          <a:prstGeom prst="rect">
            <a:avLst/>
          </a:prstGeom>
          <a:solidFill>
            <a:srgbClr val="2A1010"/>
          </a:solidFill>
          <a:ln w="1270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2" name="TextBox 16"/>
          <p:cNvSpPr txBox="1"/>
          <p:nvPr/>
        </p:nvSpPr>
        <p:spPr>
          <a:xfrm>
            <a:off x="1280159" y="4233671"/>
            <a:ext cx="72237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⚠  Prompt injection trigger loop → token explosion</a:t>
            </a:r>
          </a:p>
        </p:txBody>
      </p:sp>
      <p:sp>
        <p:nvSpPr>
          <p:cNvPr id="663" name="Rectangle 17"/>
          <p:cNvSpPr/>
          <p:nvPr/>
        </p:nvSpPr>
        <p:spPr>
          <a:xfrm>
            <a:off x="1097280" y="5212079"/>
            <a:ext cx="7589519" cy="960121"/>
          </a:xfrm>
          <a:prstGeom prst="rect">
            <a:avLst/>
          </a:prstGeom>
          <a:solidFill>
            <a:srgbClr val="2A1010"/>
          </a:solidFill>
          <a:ln w="1270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4" name="TextBox 18"/>
          <p:cNvSpPr txBox="1"/>
          <p:nvPr/>
        </p:nvSpPr>
        <p:spPr>
          <a:xfrm>
            <a:off x="1280159" y="5330952"/>
            <a:ext cx="72237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⚠  Bug trong code gọi LLM lặp vô hạn</a:t>
            </a:r>
          </a:p>
        </p:txBody>
      </p:sp>
      <p:sp>
        <p:nvSpPr>
          <p:cNvPr id="665" name="Rectangle 19"/>
          <p:cNvSpPr/>
          <p:nvPr/>
        </p:nvSpPr>
        <p:spPr>
          <a:xfrm>
            <a:off x="1097280" y="6309359"/>
            <a:ext cx="7589519" cy="960121"/>
          </a:xfrm>
          <a:prstGeom prst="rect">
            <a:avLst/>
          </a:prstGeom>
          <a:solidFill>
            <a:srgbClr val="2A1010"/>
          </a:solidFill>
          <a:ln w="1270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6" name="TextBox 20"/>
          <p:cNvSpPr txBox="1"/>
          <p:nvPr/>
        </p:nvSpPr>
        <p:spPr>
          <a:xfrm>
            <a:off x="1280159" y="6428230"/>
            <a:ext cx="72237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⚠  API key bị lộ → hacker dùng thoải mái</a:t>
            </a:r>
          </a:p>
        </p:txBody>
      </p:sp>
      <p:sp>
        <p:nvSpPr>
          <p:cNvPr id="667" name="TextBox 21"/>
          <p:cNvSpPr txBox="1"/>
          <p:nvPr/>
        </p:nvSpPr>
        <p:spPr>
          <a:xfrm>
            <a:off x="9646919" y="2423160"/>
            <a:ext cx="768096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20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🛡️  Biện Pháp Bảo Vệ</a:t>
            </a:r>
          </a:p>
        </p:txBody>
      </p:sp>
      <p:sp>
        <p:nvSpPr>
          <p:cNvPr id="668" name="Rectangle 22"/>
          <p:cNvSpPr/>
          <p:nvPr/>
        </p:nvSpPr>
        <p:spPr>
          <a:xfrm>
            <a:off x="9601200" y="3017520"/>
            <a:ext cx="7589519" cy="960121"/>
          </a:xfrm>
          <a:prstGeom prst="rect">
            <a:avLst/>
          </a:prstGeom>
          <a:solidFill>
            <a:srgbClr val="102A12"/>
          </a:solidFill>
          <a:ln w="127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9" name="TextBox 23"/>
          <p:cNvSpPr txBox="1"/>
          <p:nvPr/>
        </p:nvSpPr>
        <p:spPr>
          <a:xfrm>
            <a:off x="9784079" y="3090672"/>
            <a:ext cx="283464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Rate limiting: </a:t>
            </a:r>
          </a:p>
        </p:txBody>
      </p:sp>
      <p:sp>
        <p:nvSpPr>
          <p:cNvPr id="670" name="TextBox 24"/>
          <p:cNvSpPr txBox="1"/>
          <p:nvPr/>
        </p:nvSpPr>
        <p:spPr>
          <a:xfrm>
            <a:off x="12024359" y="3090672"/>
            <a:ext cx="49377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max requests/user/phút</a:t>
            </a:r>
          </a:p>
        </p:txBody>
      </p:sp>
      <p:sp>
        <p:nvSpPr>
          <p:cNvPr id="671" name="Rectangle 25"/>
          <p:cNvSpPr/>
          <p:nvPr/>
        </p:nvSpPr>
        <p:spPr>
          <a:xfrm>
            <a:off x="9601200" y="4114800"/>
            <a:ext cx="7589519" cy="960120"/>
          </a:xfrm>
          <a:prstGeom prst="rect">
            <a:avLst/>
          </a:prstGeom>
          <a:solidFill>
            <a:srgbClr val="102A12"/>
          </a:solidFill>
          <a:ln w="127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TextBox 26"/>
          <p:cNvSpPr txBox="1"/>
          <p:nvPr/>
        </p:nvSpPr>
        <p:spPr>
          <a:xfrm>
            <a:off x="9784079" y="4187952"/>
            <a:ext cx="283464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Spending limits: </a:t>
            </a:r>
          </a:p>
        </p:txBody>
      </p:sp>
      <p:sp>
        <p:nvSpPr>
          <p:cNvPr id="673" name="TextBox 27"/>
          <p:cNvSpPr txBox="1"/>
          <p:nvPr/>
        </p:nvSpPr>
        <p:spPr>
          <a:xfrm>
            <a:off x="12024359" y="4187952"/>
            <a:ext cx="49377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daily/monthly budget cap</a:t>
            </a:r>
          </a:p>
        </p:txBody>
      </p:sp>
      <p:sp>
        <p:nvSpPr>
          <p:cNvPr id="674" name="Rectangle 28"/>
          <p:cNvSpPr/>
          <p:nvPr/>
        </p:nvSpPr>
        <p:spPr>
          <a:xfrm>
            <a:off x="9601200" y="5212079"/>
            <a:ext cx="7589519" cy="960121"/>
          </a:xfrm>
          <a:prstGeom prst="rect">
            <a:avLst/>
          </a:prstGeom>
          <a:solidFill>
            <a:srgbClr val="102A12"/>
          </a:solidFill>
          <a:ln w="127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5" name="TextBox 29"/>
          <p:cNvSpPr txBox="1"/>
          <p:nvPr/>
        </p:nvSpPr>
        <p:spPr>
          <a:xfrm>
            <a:off x="9784079" y="5285230"/>
            <a:ext cx="283464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Usage alerts: </a:t>
            </a:r>
          </a:p>
        </p:txBody>
      </p:sp>
      <p:sp>
        <p:nvSpPr>
          <p:cNvPr id="676" name="TextBox 30"/>
          <p:cNvSpPr txBox="1"/>
          <p:nvPr/>
        </p:nvSpPr>
        <p:spPr>
          <a:xfrm>
            <a:off x="12024359" y="5285230"/>
            <a:ext cx="49377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notify khi cost &gt; threshold</a:t>
            </a:r>
          </a:p>
        </p:txBody>
      </p:sp>
      <p:sp>
        <p:nvSpPr>
          <p:cNvPr id="677" name="Rectangle 31"/>
          <p:cNvSpPr/>
          <p:nvPr/>
        </p:nvSpPr>
        <p:spPr>
          <a:xfrm>
            <a:off x="9601200" y="6309359"/>
            <a:ext cx="7589519" cy="960121"/>
          </a:xfrm>
          <a:prstGeom prst="rect">
            <a:avLst/>
          </a:prstGeom>
          <a:solidFill>
            <a:srgbClr val="102A12"/>
          </a:solidFill>
          <a:ln w="127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8" name="TextBox 32"/>
          <p:cNvSpPr txBox="1"/>
          <p:nvPr/>
        </p:nvSpPr>
        <p:spPr>
          <a:xfrm>
            <a:off x="9784079" y="6382511"/>
            <a:ext cx="283464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Circuit breaker: </a:t>
            </a:r>
          </a:p>
        </p:txBody>
      </p:sp>
      <p:sp>
        <p:nvSpPr>
          <p:cNvPr id="679" name="TextBox 33"/>
          <p:cNvSpPr txBox="1"/>
          <p:nvPr/>
        </p:nvSpPr>
        <p:spPr>
          <a:xfrm>
            <a:off x="12024359" y="6382511"/>
            <a:ext cx="49377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tắt khi anomaly detected</a:t>
            </a:r>
          </a:p>
        </p:txBody>
      </p:sp>
      <p:sp>
        <p:nvSpPr>
          <p:cNvPr id="680" name="Rectangle 34"/>
          <p:cNvSpPr/>
          <p:nvPr/>
        </p:nvSpPr>
        <p:spPr>
          <a:xfrm>
            <a:off x="1097279" y="7818119"/>
            <a:ext cx="16093441" cy="822961"/>
          </a:xfrm>
          <a:prstGeom prst="rect">
            <a:avLst/>
          </a:prstGeom>
          <a:solidFill>
            <a:srgbClr val="0A2A3D"/>
          </a:solidFill>
          <a:ln w="2540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TextBox 35"/>
          <p:cNvSpPr txBox="1"/>
          <p:nvPr/>
        </p:nvSpPr>
        <p:spPr>
          <a:xfrm>
            <a:off x="1280159" y="7909559"/>
            <a:ext cx="1572768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FFCCC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🔴  Nhiều startup phá sản vì quên rate limit. Spending cap nên là thứ ĐẦU TIÊN setup, không phải sau cùng.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4" name="Freeform 3"/>
          <p:cNvSpPr/>
          <p:nvPr/>
        </p:nvSpPr>
        <p:spPr>
          <a:xfrm>
            <a:off x="0" y="-177933"/>
            <a:ext cx="18288000" cy="44958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5" name="Freeform 4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6" name="Freeform 5"/>
          <p:cNvSpPr/>
          <p:nvPr/>
        </p:nvSpPr>
        <p:spPr>
          <a:xfrm>
            <a:off x="13422238" y="8762217"/>
            <a:ext cx="4106320" cy="49608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7" name="Freeform 6"/>
          <p:cNvSpPr/>
          <p:nvPr/>
        </p:nvSpPr>
        <p:spPr>
          <a:xfrm>
            <a:off x="12390119" y="9396590"/>
            <a:ext cx="5138438" cy="28711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8" name="AutoShape 9"/>
          <p:cNvSpPr/>
          <p:nvPr/>
        </p:nvSpPr>
        <p:spPr>
          <a:xfrm>
            <a:off x="4736705" y="2423421"/>
            <a:ext cx="7653415" cy="1"/>
          </a:xfrm>
          <a:prstGeom prst="line">
            <a:avLst/>
          </a:prstGeom>
          <a:ln w="38100">
            <a:solidFill>
              <a:srgbClr val="A6A6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9" name="TextBox 9"/>
          <p:cNvSpPr txBox="1"/>
          <p:nvPr/>
        </p:nvSpPr>
        <p:spPr>
          <a:xfrm>
            <a:off x="1143000" y="2011679"/>
            <a:ext cx="3566160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0000">
                <a:solidFill>
                  <a:srgbClr val="81C784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90" name="TextBox 10"/>
          <p:cNvSpPr txBox="1"/>
          <p:nvPr/>
        </p:nvSpPr>
        <p:spPr>
          <a:xfrm>
            <a:off x="4617720" y="2834639"/>
            <a:ext cx="12252960" cy="1863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52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pPr>
            <a:r>
              <a:t>SCALING</a:t>
            </a:r>
          </a:p>
          <a:p>
            <a:pPr>
              <a:lnSpc>
                <a:spcPct val="125000"/>
              </a:lnSpc>
              <a:defRPr sz="52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pPr>
            <a:r>
              <a:t>&amp; RELIABILITY</a:t>
            </a:r>
          </a:p>
        </p:txBody>
      </p:sp>
      <p:sp>
        <p:nvSpPr>
          <p:cNvPr id="691" name="TextBox 11"/>
          <p:cNvSpPr txBox="1"/>
          <p:nvPr/>
        </p:nvSpPr>
        <p:spPr>
          <a:xfrm>
            <a:off x="4617720" y="5029200"/>
            <a:ext cx="12252960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0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Agent không chết khi có 100 người dùng cùng lúc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4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5" name="Freeform 5"/>
          <p:cNvSpPr/>
          <p:nvPr/>
        </p:nvSpPr>
        <p:spPr>
          <a:xfrm>
            <a:off x="1028699" y="1028699"/>
            <a:ext cx="11147257" cy="728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6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7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8" name="TextBox 10"/>
          <p:cNvSpPr txBox="1"/>
          <p:nvPr/>
        </p:nvSpPr>
        <p:spPr>
          <a:xfrm>
            <a:off x="1176220" y="1070863"/>
            <a:ext cx="12710161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Health Checks — Tự Động Phát Hiện &amp; Khôi Phục</a:t>
            </a:r>
          </a:p>
        </p:txBody>
      </p:sp>
      <p:sp>
        <p:nvSpPr>
          <p:cNvPr id="699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0" name="Rectangle 12"/>
          <p:cNvSpPr/>
          <p:nvPr/>
        </p:nvSpPr>
        <p:spPr>
          <a:xfrm>
            <a:off x="1097280" y="2468879"/>
            <a:ext cx="7955279" cy="3840481"/>
          </a:xfrm>
          <a:prstGeom prst="rect">
            <a:avLst/>
          </a:prstGeom>
          <a:solidFill>
            <a:srgbClr val="1A2B3C"/>
          </a:solidFill>
          <a:ln w="254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1" name="TextBox 13"/>
          <p:cNvSpPr txBox="1"/>
          <p:nvPr/>
        </p:nvSpPr>
        <p:spPr>
          <a:xfrm>
            <a:off x="1280159" y="2578607"/>
            <a:ext cx="758952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22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Liveness Probe</a:t>
            </a:r>
          </a:p>
        </p:txBody>
      </p:sp>
      <p:sp>
        <p:nvSpPr>
          <p:cNvPr id="702" name="TextBox 14"/>
          <p:cNvSpPr txBox="1"/>
          <p:nvPr/>
        </p:nvSpPr>
        <p:spPr>
          <a:xfrm>
            <a:off x="1280159" y="3090672"/>
            <a:ext cx="758952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6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"Agent có còn sống không?"</a:t>
            </a:r>
          </a:p>
        </p:txBody>
      </p:sp>
      <p:sp>
        <p:nvSpPr>
          <p:cNvPr id="703" name="TextBox 15"/>
          <p:cNvSpPr txBox="1"/>
          <p:nvPr/>
        </p:nvSpPr>
        <p:spPr>
          <a:xfrm>
            <a:off x="1325880" y="3584447"/>
            <a:ext cx="7498079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Endpoint: GET /health</a:t>
            </a:r>
          </a:p>
        </p:txBody>
      </p:sp>
      <p:sp>
        <p:nvSpPr>
          <p:cNvPr id="704" name="TextBox 16"/>
          <p:cNvSpPr txBox="1"/>
          <p:nvPr/>
        </p:nvSpPr>
        <p:spPr>
          <a:xfrm>
            <a:off x="1325880" y="4242815"/>
            <a:ext cx="7498079" cy="34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Fail → platform restart container</a:t>
            </a:r>
          </a:p>
        </p:txBody>
      </p:sp>
      <p:sp>
        <p:nvSpPr>
          <p:cNvPr id="705" name="TextBox 17"/>
          <p:cNvSpPr txBox="1"/>
          <p:nvPr/>
        </p:nvSpPr>
        <p:spPr>
          <a:xfrm>
            <a:off x="1325880" y="4901183"/>
            <a:ext cx="7498079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Check mỗi 30 giây</a:t>
            </a:r>
          </a:p>
        </p:txBody>
      </p:sp>
      <p:sp>
        <p:nvSpPr>
          <p:cNvPr id="706" name="Rectangle 18"/>
          <p:cNvSpPr/>
          <p:nvPr/>
        </p:nvSpPr>
        <p:spPr>
          <a:xfrm>
            <a:off x="9418318" y="2468879"/>
            <a:ext cx="7955280" cy="3840481"/>
          </a:xfrm>
          <a:prstGeom prst="rect">
            <a:avLst/>
          </a:prstGeom>
          <a:solidFill>
            <a:srgbClr val="1A2B3C"/>
          </a:solidFill>
          <a:ln w="254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7" name="TextBox 19"/>
          <p:cNvSpPr txBox="1"/>
          <p:nvPr/>
        </p:nvSpPr>
        <p:spPr>
          <a:xfrm>
            <a:off x="9601200" y="2578607"/>
            <a:ext cx="758952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22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Readiness Probe</a:t>
            </a:r>
          </a:p>
        </p:txBody>
      </p:sp>
      <p:sp>
        <p:nvSpPr>
          <p:cNvPr id="708" name="TextBox 20"/>
          <p:cNvSpPr txBox="1"/>
          <p:nvPr/>
        </p:nvSpPr>
        <p:spPr>
          <a:xfrm>
            <a:off x="9601200" y="3090672"/>
            <a:ext cx="758952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6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"Agent có sẵn sàng nhận request?"</a:t>
            </a:r>
          </a:p>
        </p:txBody>
      </p:sp>
      <p:sp>
        <p:nvSpPr>
          <p:cNvPr id="709" name="TextBox 21"/>
          <p:cNvSpPr txBox="1"/>
          <p:nvPr/>
        </p:nvSpPr>
        <p:spPr>
          <a:xfrm>
            <a:off x="9646918" y="3584447"/>
            <a:ext cx="749808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Endpoint: GET /ready</a:t>
            </a:r>
          </a:p>
        </p:txBody>
      </p:sp>
      <p:sp>
        <p:nvSpPr>
          <p:cNvPr id="710" name="TextBox 22"/>
          <p:cNvSpPr txBox="1"/>
          <p:nvPr/>
        </p:nvSpPr>
        <p:spPr>
          <a:xfrm>
            <a:off x="9646918" y="4242815"/>
            <a:ext cx="7498080" cy="34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Fail → load balancer ngưng route</a:t>
            </a:r>
          </a:p>
        </p:txBody>
      </p:sp>
      <p:sp>
        <p:nvSpPr>
          <p:cNvPr id="711" name="TextBox 23"/>
          <p:cNvSpPr txBox="1"/>
          <p:nvPr/>
        </p:nvSpPr>
        <p:spPr>
          <a:xfrm>
            <a:off x="9646918" y="4901183"/>
            <a:ext cx="749808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·  Check khi startup</a:t>
            </a:r>
          </a:p>
        </p:txBody>
      </p:sp>
      <p:sp>
        <p:nvSpPr>
          <p:cNvPr id="712" name="TextBox 24"/>
          <p:cNvSpPr txBox="1"/>
          <p:nvPr/>
        </p:nvSpPr>
        <p:spPr>
          <a:xfrm>
            <a:off x="1143000" y="6492240"/>
            <a:ext cx="7223760" cy="349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GET /health  →  Response:</a:t>
            </a:r>
          </a:p>
        </p:txBody>
      </p:sp>
      <p:grpSp>
        <p:nvGrpSpPr>
          <p:cNvPr id="715" name="Rectangle 25"/>
          <p:cNvGrpSpPr/>
          <p:nvPr/>
        </p:nvGrpSpPr>
        <p:grpSpPr>
          <a:xfrm>
            <a:off x="1097280" y="6949440"/>
            <a:ext cx="7955279" cy="2331721"/>
            <a:chOff x="0" y="0"/>
            <a:chExt cx="7955278" cy="2331720"/>
          </a:xfrm>
        </p:grpSpPr>
        <p:sp>
          <p:nvSpPr>
            <p:cNvPr id="713" name="Rectangle"/>
            <p:cNvSpPr/>
            <p:nvPr/>
          </p:nvSpPr>
          <p:spPr>
            <a:xfrm>
              <a:off x="0" y="-1"/>
              <a:ext cx="7955279" cy="2331722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14" name="{…"/>
            <p:cNvSpPr txBox="1"/>
            <p:nvPr/>
          </p:nvSpPr>
          <p:spPr>
            <a:xfrm>
              <a:off x="919870" y="472440"/>
              <a:ext cx="5477116" cy="1386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>
                <a:defRPr sz="15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{</a:t>
              </a: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“status": "ok",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"uptime_seconds": 3600,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"version": "1.0.0",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"dependencies": { "redis": "ok", "db": "ok" }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5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>
                  <a:solidFill>
                    <a:srgbClr val="FFFFFF"/>
                  </a:solidFill>
                </a:rPr>
                <a:t>}</a:t>
              </a:r>
            </a:p>
          </p:txBody>
        </p:sp>
      </p:grpSp>
      <p:sp>
        <p:nvSpPr>
          <p:cNvPr id="716" name="TextBox 26"/>
          <p:cNvSpPr txBox="1"/>
          <p:nvPr/>
        </p:nvSpPr>
        <p:spPr>
          <a:xfrm>
            <a:off x="9646919" y="6492240"/>
            <a:ext cx="76809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Rolling Deployment = Zero Downtime:</a:t>
            </a:r>
          </a:p>
        </p:txBody>
      </p:sp>
      <p:sp>
        <p:nvSpPr>
          <p:cNvPr id="717" name="TextBox 27"/>
          <p:cNvSpPr txBox="1"/>
          <p:nvPr/>
        </p:nvSpPr>
        <p:spPr>
          <a:xfrm>
            <a:off x="9646919" y="6967728"/>
            <a:ext cx="76809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1. Start new instance v2</a:t>
            </a:r>
          </a:p>
        </p:txBody>
      </p:sp>
      <p:sp>
        <p:nvSpPr>
          <p:cNvPr id="718" name="TextBox 28"/>
          <p:cNvSpPr txBox="1"/>
          <p:nvPr/>
        </p:nvSpPr>
        <p:spPr>
          <a:xfrm>
            <a:off x="9646919" y="7626095"/>
            <a:ext cx="76809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2. Health check passes ✅</a:t>
            </a:r>
          </a:p>
        </p:txBody>
      </p:sp>
      <p:sp>
        <p:nvSpPr>
          <p:cNvPr id="719" name="TextBox 29"/>
          <p:cNvSpPr txBox="1"/>
          <p:nvPr/>
        </p:nvSpPr>
        <p:spPr>
          <a:xfrm>
            <a:off x="9646919" y="8284464"/>
            <a:ext cx="76809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3. Route traffic to v2</a:t>
            </a:r>
          </a:p>
        </p:txBody>
      </p:sp>
      <p:sp>
        <p:nvSpPr>
          <p:cNvPr id="720" name="TextBox 30"/>
          <p:cNvSpPr txBox="1"/>
          <p:nvPr/>
        </p:nvSpPr>
        <p:spPr>
          <a:xfrm>
            <a:off x="9646919" y="8942831"/>
            <a:ext cx="76809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4. Stop old instance v1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3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4" name="Freeform 5"/>
          <p:cNvSpPr/>
          <p:nvPr/>
        </p:nvSpPr>
        <p:spPr>
          <a:xfrm>
            <a:off x="1028699" y="1028699"/>
            <a:ext cx="11000489" cy="728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5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6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7" name="TextBox 10"/>
          <p:cNvSpPr txBox="1"/>
          <p:nvPr/>
        </p:nvSpPr>
        <p:spPr>
          <a:xfrm>
            <a:off x="1143000" y="1046988"/>
            <a:ext cx="12710160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5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Stateless Design — Scale Bằng Cách Thêm Instances</a:t>
            </a:r>
          </a:p>
        </p:txBody>
      </p:sp>
      <p:sp>
        <p:nvSpPr>
          <p:cNvPr id="728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9" name="TextBox 12"/>
          <p:cNvSpPr txBox="1"/>
          <p:nvPr/>
        </p:nvSpPr>
        <p:spPr>
          <a:xfrm>
            <a:off x="1143000" y="2423160"/>
            <a:ext cx="722376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❌  Stateful (Không Scale Được)</a:t>
            </a:r>
          </a:p>
        </p:txBody>
      </p:sp>
      <p:grpSp>
        <p:nvGrpSpPr>
          <p:cNvPr id="732" name="Rectangle 13"/>
          <p:cNvGrpSpPr/>
          <p:nvPr/>
        </p:nvGrpSpPr>
        <p:grpSpPr>
          <a:xfrm>
            <a:off x="1097280" y="2926079"/>
            <a:ext cx="7772401" cy="2697481"/>
            <a:chOff x="0" y="0"/>
            <a:chExt cx="7772400" cy="2697480"/>
          </a:xfrm>
        </p:grpSpPr>
        <p:sp>
          <p:nvSpPr>
            <p:cNvPr id="730" name="Rectangle"/>
            <p:cNvSpPr/>
            <p:nvPr/>
          </p:nvSpPr>
          <p:spPr>
            <a:xfrm>
              <a:off x="0" y="-1"/>
              <a:ext cx="7772400" cy="2697482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31" name="# ❌ Session lưu trong memory của instance…"/>
            <p:cNvSpPr txBox="1"/>
            <p:nvPr/>
          </p:nvSpPr>
          <p:spPr>
            <a:xfrm>
              <a:off x="930394" y="525938"/>
              <a:ext cx="5911612" cy="16456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600">
                  <a:solidFill>
                    <a:srgbClr val="B0BEC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#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❌ </a:t>
              </a:r>
              <a:r>
                <a:t>Session lưu trong memory c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ủ</a:t>
              </a:r>
              <a:r>
                <a:t>a instance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sessions = {}  # dict trong RAM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B0BEC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# Instance 1 x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ử </a:t>
              </a:r>
              <a:r>
                <a:t>lý request 1 → lưu session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B0BEC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# Instance 2 x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ử </a:t>
              </a:r>
              <a:r>
                <a:t>lý request 2 → KHÔNG CÓ SESSION!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B0BEC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# → Bug! User m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ấ</a:t>
              </a:r>
              <a:r>
                <a:t>t context</a:t>
              </a:r>
            </a:p>
          </p:txBody>
        </p:sp>
      </p:grpSp>
      <p:sp>
        <p:nvSpPr>
          <p:cNvPr id="733" name="TextBox 14"/>
          <p:cNvSpPr txBox="1"/>
          <p:nvPr/>
        </p:nvSpPr>
        <p:spPr>
          <a:xfrm>
            <a:off x="9646919" y="2423160"/>
            <a:ext cx="76809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Stateless + Redis (Scale Được)</a:t>
            </a:r>
          </a:p>
        </p:txBody>
      </p:sp>
      <p:grpSp>
        <p:nvGrpSpPr>
          <p:cNvPr id="736" name="Rectangle 15"/>
          <p:cNvGrpSpPr/>
          <p:nvPr/>
        </p:nvGrpSpPr>
        <p:grpSpPr>
          <a:xfrm>
            <a:off x="9601200" y="2926079"/>
            <a:ext cx="7772400" cy="2697481"/>
            <a:chOff x="0" y="0"/>
            <a:chExt cx="7772400" cy="2697480"/>
          </a:xfrm>
        </p:grpSpPr>
        <p:sp>
          <p:nvSpPr>
            <p:cNvPr id="734" name="Rectangle"/>
            <p:cNvSpPr/>
            <p:nvPr/>
          </p:nvSpPr>
          <p:spPr>
            <a:xfrm>
              <a:off x="0" y="-1"/>
              <a:ext cx="7772400" cy="2697482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35" name="# ✅ Session lưu trong Redis (shared)…"/>
            <p:cNvSpPr txBox="1"/>
            <p:nvPr/>
          </p:nvSpPr>
          <p:spPr>
            <a:xfrm>
              <a:off x="968543" y="324326"/>
              <a:ext cx="5835314" cy="20488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600">
                  <a:solidFill>
                    <a:srgbClr val="B0BEC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#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✅ </a:t>
              </a:r>
              <a:r>
                <a:t>Session lưu trong Redis (shared)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redis_client = redis.from_url(REDIS_URL)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def save_session(session_id, data):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FFCC8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redis_client.setex(f'session:{session_id}',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                       3600, json.dumps(data))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B0BEC5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# B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ấ</a:t>
              </a:r>
              <a:r>
                <a:t>t k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ỳ </a:t>
              </a:r>
              <a:r>
                <a:t>instance nào cũng đ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ọ</a:t>
              </a:r>
              <a:r>
                <a:t>c đư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ợ</a:t>
              </a:r>
              <a:r>
                <a:t>c session!</a:t>
              </a:r>
            </a:p>
          </p:txBody>
        </p:sp>
      </p:grpSp>
      <p:sp>
        <p:nvSpPr>
          <p:cNvPr id="737" name="TextBox 16"/>
          <p:cNvSpPr txBox="1"/>
          <p:nvPr/>
        </p:nvSpPr>
        <p:spPr>
          <a:xfrm>
            <a:off x="1142999" y="5897879"/>
            <a:ext cx="160020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Users  →  Load Balancer  →  Instance 1, 2, 3  →  Redis (Shared State)</a:t>
            </a:r>
          </a:p>
        </p:txBody>
      </p:sp>
      <p:sp>
        <p:nvSpPr>
          <p:cNvPr id="738" name="Rectangle 17"/>
          <p:cNvSpPr/>
          <p:nvPr/>
        </p:nvSpPr>
        <p:spPr>
          <a:xfrm>
            <a:off x="1371600" y="6446520"/>
            <a:ext cx="2286000" cy="1234441"/>
          </a:xfrm>
          <a:prstGeom prst="rect">
            <a:avLst/>
          </a:prstGeom>
          <a:solidFill>
            <a:srgbClr val="1A2B3C"/>
          </a:solidFill>
          <a:ln w="19050">
            <a:solidFill>
              <a:srgbClr val="B0BE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9" name="TextBox 18"/>
          <p:cNvSpPr txBox="1"/>
          <p:nvPr/>
        </p:nvSpPr>
        <p:spPr>
          <a:xfrm>
            <a:off x="1508759" y="6720840"/>
            <a:ext cx="2011682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👤 Users</a:t>
            </a:r>
          </a:p>
        </p:txBody>
      </p:sp>
      <p:sp>
        <p:nvSpPr>
          <p:cNvPr id="740" name="TextBox 19"/>
          <p:cNvSpPr txBox="1"/>
          <p:nvPr/>
        </p:nvSpPr>
        <p:spPr>
          <a:xfrm>
            <a:off x="3749040" y="690371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0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41" name="Rectangle 20"/>
          <p:cNvSpPr/>
          <p:nvPr/>
        </p:nvSpPr>
        <p:spPr>
          <a:xfrm>
            <a:off x="4023359" y="6446520"/>
            <a:ext cx="2286001" cy="1234441"/>
          </a:xfrm>
          <a:prstGeom prst="rect">
            <a:avLst/>
          </a:prstGeom>
          <a:solidFill>
            <a:srgbClr val="1A2B3C"/>
          </a:solidFill>
          <a:ln w="1905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TextBox 21"/>
          <p:cNvSpPr txBox="1"/>
          <p:nvPr/>
        </p:nvSpPr>
        <p:spPr>
          <a:xfrm>
            <a:off x="4160520" y="6720840"/>
            <a:ext cx="201168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⚖️ LB</a:t>
            </a:r>
          </a:p>
        </p:txBody>
      </p:sp>
      <p:sp>
        <p:nvSpPr>
          <p:cNvPr id="743" name="Rectangle 22"/>
          <p:cNvSpPr/>
          <p:nvPr/>
        </p:nvSpPr>
        <p:spPr>
          <a:xfrm>
            <a:off x="6675119" y="6446520"/>
            <a:ext cx="2286001" cy="1234441"/>
          </a:xfrm>
          <a:prstGeom prst="rect">
            <a:avLst/>
          </a:prstGeom>
          <a:solidFill>
            <a:srgbClr val="1A2B3C"/>
          </a:solidFill>
          <a:ln w="190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4" name="TextBox 23"/>
          <p:cNvSpPr txBox="1"/>
          <p:nvPr/>
        </p:nvSpPr>
        <p:spPr>
          <a:xfrm>
            <a:off x="6812278" y="6720840"/>
            <a:ext cx="201168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🤖 #1</a:t>
            </a:r>
          </a:p>
        </p:txBody>
      </p:sp>
      <p:sp>
        <p:nvSpPr>
          <p:cNvPr id="745" name="TextBox 24"/>
          <p:cNvSpPr txBox="1"/>
          <p:nvPr/>
        </p:nvSpPr>
        <p:spPr>
          <a:xfrm>
            <a:off x="9052559" y="690371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0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46" name="Rectangle 25"/>
          <p:cNvSpPr/>
          <p:nvPr/>
        </p:nvSpPr>
        <p:spPr>
          <a:xfrm>
            <a:off x="9326880" y="6446520"/>
            <a:ext cx="2286001" cy="1234441"/>
          </a:xfrm>
          <a:prstGeom prst="rect">
            <a:avLst/>
          </a:prstGeom>
          <a:solidFill>
            <a:srgbClr val="1A2B3C"/>
          </a:solidFill>
          <a:ln w="190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7" name="TextBox 26"/>
          <p:cNvSpPr txBox="1"/>
          <p:nvPr/>
        </p:nvSpPr>
        <p:spPr>
          <a:xfrm>
            <a:off x="9464038" y="6720840"/>
            <a:ext cx="201168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🤖 #2</a:t>
            </a:r>
          </a:p>
        </p:txBody>
      </p:sp>
      <p:sp>
        <p:nvSpPr>
          <p:cNvPr id="748" name="TextBox 27"/>
          <p:cNvSpPr txBox="1"/>
          <p:nvPr/>
        </p:nvSpPr>
        <p:spPr>
          <a:xfrm>
            <a:off x="11704319" y="690371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0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49" name="Rectangle 28"/>
          <p:cNvSpPr/>
          <p:nvPr/>
        </p:nvSpPr>
        <p:spPr>
          <a:xfrm>
            <a:off x="11978640" y="6446520"/>
            <a:ext cx="2286001" cy="1234441"/>
          </a:xfrm>
          <a:prstGeom prst="rect">
            <a:avLst/>
          </a:prstGeom>
          <a:solidFill>
            <a:srgbClr val="1A2B3C"/>
          </a:solidFill>
          <a:ln w="190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0" name="TextBox 29"/>
          <p:cNvSpPr txBox="1"/>
          <p:nvPr/>
        </p:nvSpPr>
        <p:spPr>
          <a:xfrm>
            <a:off x="12115800" y="6720840"/>
            <a:ext cx="201168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🤖 #3</a:t>
            </a:r>
          </a:p>
        </p:txBody>
      </p:sp>
      <p:sp>
        <p:nvSpPr>
          <p:cNvPr id="751" name="TextBox 30"/>
          <p:cNvSpPr txBox="1"/>
          <p:nvPr/>
        </p:nvSpPr>
        <p:spPr>
          <a:xfrm>
            <a:off x="14356078" y="690371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0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52" name="Rectangle 31"/>
          <p:cNvSpPr/>
          <p:nvPr/>
        </p:nvSpPr>
        <p:spPr>
          <a:xfrm>
            <a:off x="14630400" y="6446520"/>
            <a:ext cx="2286000" cy="1234441"/>
          </a:xfrm>
          <a:prstGeom prst="rect">
            <a:avLst/>
          </a:prstGeom>
          <a:solidFill>
            <a:srgbClr val="1A2B3C"/>
          </a:solidFill>
          <a:ln w="1905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3" name="TextBox 32"/>
          <p:cNvSpPr txBox="1"/>
          <p:nvPr/>
        </p:nvSpPr>
        <p:spPr>
          <a:xfrm>
            <a:off x="14767559" y="6720840"/>
            <a:ext cx="201168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⚡ Redis</a:t>
            </a:r>
          </a:p>
        </p:txBody>
      </p:sp>
      <p:sp>
        <p:nvSpPr>
          <p:cNvPr id="754" name="Rectangle 33"/>
          <p:cNvSpPr/>
          <p:nvPr/>
        </p:nvSpPr>
        <p:spPr>
          <a:xfrm>
            <a:off x="1097279" y="7882126"/>
            <a:ext cx="16093441" cy="804673"/>
          </a:xfrm>
          <a:prstGeom prst="rect">
            <a:avLst/>
          </a:prstGeom>
          <a:solidFill>
            <a:srgbClr val="0A2A3D"/>
          </a:solidFill>
          <a:ln w="254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5" name="TextBox 34"/>
          <p:cNvSpPr txBox="1"/>
          <p:nvPr/>
        </p:nvSpPr>
        <p:spPr>
          <a:xfrm>
            <a:off x="1280160" y="8124442"/>
            <a:ext cx="157276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i="1" sz="15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Nguyên tắc: Bất kỳ instance nào cũng phải serve được bất kỳ request nào. Không có state "dính" vào 1 instance cụ thể.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8" name="Freeform 3"/>
          <p:cNvSpPr/>
          <p:nvPr/>
        </p:nvSpPr>
        <p:spPr>
          <a:xfrm>
            <a:off x="0" y="-177933"/>
            <a:ext cx="18288000" cy="44958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9" name="Freeform 4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0" name="Freeform 5"/>
          <p:cNvSpPr/>
          <p:nvPr/>
        </p:nvSpPr>
        <p:spPr>
          <a:xfrm>
            <a:off x="13422238" y="8762217"/>
            <a:ext cx="4106320" cy="49608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1" name="Freeform 6"/>
          <p:cNvSpPr/>
          <p:nvPr/>
        </p:nvSpPr>
        <p:spPr>
          <a:xfrm>
            <a:off x="12390119" y="9396590"/>
            <a:ext cx="5138438" cy="28711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2" name="AutoShape 9"/>
          <p:cNvSpPr/>
          <p:nvPr/>
        </p:nvSpPr>
        <p:spPr>
          <a:xfrm>
            <a:off x="4688142" y="2423421"/>
            <a:ext cx="7701978" cy="1"/>
          </a:xfrm>
          <a:prstGeom prst="line">
            <a:avLst/>
          </a:prstGeom>
          <a:ln w="38100">
            <a:solidFill>
              <a:srgbClr val="A6A6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3" name="TextBox 9"/>
          <p:cNvSpPr txBox="1"/>
          <p:nvPr/>
        </p:nvSpPr>
        <p:spPr>
          <a:xfrm>
            <a:off x="1143000" y="2011679"/>
            <a:ext cx="3566160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0000">
                <a:solidFill>
                  <a:srgbClr val="FFB74D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764" name="TextBox 10"/>
          <p:cNvSpPr txBox="1"/>
          <p:nvPr/>
        </p:nvSpPr>
        <p:spPr>
          <a:xfrm>
            <a:off x="4617720" y="2834639"/>
            <a:ext cx="12252960" cy="1863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52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pPr>
            <a:r>
              <a:t>GITHUB PROJECT</a:t>
            </a:r>
          </a:p>
          <a:p>
            <a:pPr>
              <a:lnSpc>
                <a:spcPct val="125000"/>
              </a:lnSpc>
              <a:defRPr sz="52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pPr>
            <a:r>
              <a:t>WALKTHROUGH</a:t>
            </a:r>
          </a:p>
        </p:txBody>
      </p:sp>
      <p:sp>
        <p:nvSpPr>
          <p:cNvPr id="765" name="TextBox 11"/>
          <p:cNvSpPr txBox="1"/>
          <p:nvPr/>
        </p:nvSpPr>
        <p:spPr>
          <a:xfrm>
            <a:off x="4617720" y="5029200"/>
            <a:ext cx="12252960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0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Ví dụ cơ bản + chuyên sâu cho từng section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8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9" name="Freeform 5"/>
          <p:cNvSpPr/>
          <p:nvPr/>
        </p:nvSpPr>
        <p:spPr>
          <a:xfrm>
            <a:off x="1028699" y="1028699"/>
            <a:ext cx="10232779" cy="728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0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1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2" name="TextBox 10"/>
          <p:cNvSpPr txBox="1"/>
          <p:nvPr/>
        </p:nvSpPr>
        <p:spPr>
          <a:xfrm>
            <a:off x="1143000" y="10850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Project Structure — day12-agent-deployment/</a:t>
            </a:r>
          </a:p>
        </p:txBody>
      </p:sp>
      <p:sp>
        <p:nvSpPr>
          <p:cNvPr id="773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4" name="Rectangle 12"/>
          <p:cNvSpPr/>
          <p:nvPr/>
        </p:nvSpPr>
        <p:spPr>
          <a:xfrm>
            <a:off x="1097279" y="2514600"/>
            <a:ext cx="16093441" cy="1115568"/>
          </a:xfrm>
          <a:prstGeom prst="rect">
            <a:avLst/>
          </a:prstGeom>
          <a:solidFill>
            <a:srgbClr val="1A2B3C"/>
          </a:solidFill>
          <a:ln w="254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5" name="TextBox 13"/>
          <p:cNvSpPr txBox="1"/>
          <p:nvPr/>
        </p:nvSpPr>
        <p:spPr>
          <a:xfrm>
            <a:off x="1165859" y="2873755"/>
            <a:ext cx="48767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200">
                <a:solidFill>
                  <a:srgbClr val="4FC3F7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76" name="TextBox 14"/>
          <p:cNvSpPr txBox="1"/>
          <p:nvPr/>
        </p:nvSpPr>
        <p:spPr>
          <a:xfrm>
            <a:off x="1828800" y="2606039"/>
            <a:ext cx="49377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4FC3F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01-localhost-vs-production/</a:t>
            </a:r>
          </a:p>
        </p:txBody>
      </p:sp>
      <p:sp>
        <p:nvSpPr>
          <p:cNvPr id="777" name="TextBox 15"/>
          <p:cNvSpPr txBox="1"/>
          <p:nvPr/>
        </p:nvSpPr>
        <p:spPr>
          <a:xfrm>
            <a:off x="1828800" y="3118104"/>
            <a:ext cx="14996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5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basic/: Anti-patterns  ·  advanced/: 12-Factor compliant</a:t>
            </a:r>
          </a:p>
        </p:txBody>
      </p:sp>
      <p:sp>
        <p:nvSpPr>
          <p:cNvPr id="778" name="Rectangle 16"/>
          <p:cNvSpPr/>
          <p:nvPr/>
        </p:nvSpPr>
        <p:spPr>
          <a:xfrm>
            <a:off x="1097279" y="3776471"/>
            <a:ext cx="16093441" cy="1115569"/>
          </a:xfrm>
          <a:prstGeom prst="rect">
            <a:avLst/>
          </a:prstGeom>
          <a:solidFill>
            <a:srgbClr val="1A2B3C"/>
          </a:solidFill>
          <a:ln w="254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9" name="TextBox 17"/>
          <p:cNvSpPr txBox="1"/>
          <p:nvPr/>
        </p:nvSpPr>
        <p:spPr>
          <a:xfrm>
            <a:off x="1165859" y="4123435"/>
            <a:ext cx="48767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200">
                <a:solidFill>
                  <a:srgbClr val="81C784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80" name="TextBox 18"/>
          <p:cNvSpPr txBox="1"/>
          <p:nvPr/>
        </p:nvSpPr>
        <p:spPr>
          <a:xfrm>
            <a:off x="1828800" y="3867910"/>
            <a:ext cx="49377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02-docker/</a:t>
            </a:r>
          </a:p>
        </p:txBody>
      </p:sp>
      <p:sp>
        <p:nvSpPr>
          <p:cNvPr id="781" name="TextBox 19"/>
          <p:cNvSpPr txBox="1"/>
          <p:nvPr/>
        </p:nvSpPr>
        <p:spPr>
          <a:xfrm>
            <a:off x="1828800" y="4379976"/>
            <a:ext cx="14996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5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basic/: Single-stage  ·  advanced/: Multi-stage + Compose + Nginx</a:t>
            </a:r>
          </a:p>
        </p:txBody>
      </p:sp>
      <p:sp>
        <p:nvSpPr>
          <p:cNvPr id="782" name="Rectangle 20"/>
          <p:cNvSpPr/>
          <p:nvPr/>
        </p:nvSpPr>
        <p:spPr>
          <a:xfrm>
            <a:off x="1097279" y="5038344"/>
            <a:ext cx="16093441" cy="1115568"/>
          </a:xfrm>
          <a:prstGeom prst="rect">
            <a:avLst/>
          </a:prstGeom>
          <a:solidFill>
            <a:srgbClr val="1A2B3C"/>
          </a:solidFill>
          <a:ln w="2540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3" name="TextBox 21"/>
          <p:cNvSpPr txBox="1"/>
          <p:nvPr/>
        </p:nvSpPr>
        <p:spPr>
          <a:xfrm>
            <a:off x="1178559" y="5334000"/>
            <a:ext cx="487679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200">
                <a:solidFill>
                  <a:srgbClr val="FFB74D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784" name="TextBox 22"/>
          <p:cNvSpPr txBox="1"/>
          <p:nvPr/>
        </p:nvSpPr>
        <p:spPr>
          <a:xfrm>
            <a:off x="1828800" y="5129783"/>
            <a:ext cx="49377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FFB74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03-cloud-deployment/</a:t>
            </a:r>
          </a:p>
        </p:txBody>
      </p:sp>
      <p:sp>
        <p:nvSpPr>
          <p:cNvPr id="785" name="TextBox 23"/>
          <p:cNvSpPr txBox="1"/>
          <p:nvPr/>
        </p:nvSpPr>
        <p:spPr>
          <a:xfrm>
            <a:off x="1828800" y="5641847"/>
            <a:ext cx="14996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5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railway/  ·  render/  ·  advanced-cloud-run/ (CI/CD)</a:t>
            </a:r>
          </a:p>
        </p:txBody>
      </p:sp>
      <p:sp>
        <p:nvSpPr>
          <p:cNvPr id="786" name="Rectangle 24"/>
          <p:cNvSpPr/>
          <p:nvPr/>
        </p:nvSpPr>
        <p:spPr>
          <a:xfrm>
            <a:off x="1097279" y="6300215"/>
            <a:ext cx="16093441" cy="1115569"/>
          </a:xfrm>
          <a:prstGeom prst="rect">
            <a:avLst/>
          </a:prstGeom>
          <a:solidFill>
            <a:srgbClr val="1A2B3C"/>
          </a:solidFill>
          <a:ln w="2540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7" name="TextBox 25"/>
          <p:cNvSpPr txBox="1"/>
          <p:nvPr/>
        </p:nvSpPr>
        <p:spPr>
          <a:xfrm>
            <a:off x="1216659" y="6595871"/>
            <a:ext cx="48767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200">
                <a:solidFill>
                  <a:srgbClr val="EF5350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88" name="TextBox 26"/>
          <p:cNvSpPr txBox="1"/>
          <p:nvPr/>
        </p:nvSpPr>
        <p:spPr>
          <a:xfrm>
            <a:off x="1828800" y="6391654"/>
            <a:ext cx="49377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EF535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04-api-gateway/</a:t>
            </a:r>
          </a:p>
        </p:txBody>
      </p:sp>
      <p:sp>
        <p:nvSpPr>
          <p:cNvPr id="789" name="TextBox 27"/>
          <p:cNvSpPr txBox="1"/>
          <p:nvPr/>
        </p:nvSpPr>
        <p:spPr>
          <a:xfrm>
            <a:off x="1828800" y="6903719"/>
            <a:ext cx="14996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5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basic/: API Key  ·  advanced/: JWT + Rate Limiter + Cost Guard</a:t>
            </a:r>
          </a:p>
        </p:txBody>
      </p:sp>
      <p:sp>
        <p:nvSpPr>
          <p:cNvPr id="790" name="Rectangle 28"/>
          <p:cNvSpPr/>
          <p:nvPr/>
        </p:nvSpPr>
        <p:spPr>
          <a:xfrm>
            <a:off x="1097279" y="7562088"/>
            <a:ext cx="16093441" cy="1115568"/>
          </a:xfrm>
          <a:prstGeom prst="rect">
            <a:avLst/>
          </a:prstGeom>
          <a:solidFill>
            <a:srgbClr val="1A2B3C"/>
          </a:solidFill>
          <a:ln w="25400">
            <a:solidFill>
              <a:srgbClr val="FFEE5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1" name="TextBox 29"/>
          <p:cNvSpPr txBox="1"/>
          <p:nvPr/>
        </p:nvSpPr>
        <p:spPr>
          <a:xfrm>
            <a:off x="1216659" y="7857743"/>
            <a:ext cx="48767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200">
                <a:solidFill>
                  <a:srgbClr val="FFEE58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792" name="TextBox 30"/>
          <p:cNvSpPr txBox="1"/>
          <p:nvPr/>
        </p:nvSpPr>
        <p:spPr>
          <a:xfrm>
            <a:off x="1828800" y="7653526"/>
            <a:ext cx="49377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FFEE5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05-scaling-reliability/</a:t>
            </a:r>
          </a:p>
        </p:txBody>
      </p:sp>
      <p:sp>
        <p:nvSpPr>
          <p:cNvPr id="793" name="TextBox 31"/>
          <p:cNvSpPr txBox="1"/>
          <p:nvPr/>
        </p:nvSpPr>
        <p:spPr>
          <a:xfrm>
            <a:off x="1828800" y="8165592"/>
            <a:ext cx="14996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5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basic/: Health checks  ·  advanced/: Stateless + Redis + 3 replicas</a:t>
            </a:r>
          </a:p>
        </p:txBody>
      </p:sp>
      <p:sp>
        <p:nvSpPr>
          <p:cNvPr id="794" name="Rectangle 32"/>
          <p:cNvSpPr/>
          <p:nvPr/>
        </p:nvSpPr>
        <p:spPr>
          <a:xfrm>
            <a:off x="1097279" y="8823959"/>
            <a:ext cx="16093441" cy="1115569"/>
          </a:xfrm>
          <a:prstGeom prst="rect">
            <a:avLst/>
          </a:prstGeom>
          <a:solidFill>
            <a:srgbClr val="1A2B3C"/>
          </a:solidFill>
          <a:ln w="25400">
            <a:solidFill>
              <a:srgbClr val="FFFE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5" name="TextBox 33"/>
          <p:cNvSpPr txBox="1"/>
          <p:nvPr/>
        </p:nvSpPr>
        <p:spPr>
          <a:xfrm>
            <a:off x="1216659" y="9132314"/>
            <a:ext cx="48767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2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796" name="TextBox 34"/>
          <p:cNvSpPr txBox="1"/>
          <p:nvPr/>
        </p:nvSpPr>
        <p:spPr>
          <a:xfrm>
            <a:off x="1828800" y="8915399"/>
            <a:ext cx="49377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FFFE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06-lab-complete/</a:t>
            </a:r>
          </a:p>
        </p:txBody>
      </p:sp>
      <p:sp>
        <p:nvSpPr>
          <p:cNvPr id="797" name="TextBox 35"/>
          <p:cNvSpPr txBox="1"/>
          <p:nvPr/>
        </p:nvSpPr>
        <p:spPr>
          <a:xfrm>
            <a:off x="1828800" y="9427463"/>
            <a:ext cx="14996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5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Production-ready agent  ·  check_production_ready.py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0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1" name="Freeform 5"/>
          <p:cNvSpPr/>
          <p:nvPr/>
        </p:nvSpPr>
        <p:spPr>
          <a:xfrm>
            <a:off x="1028699" y="1028699"/>
            <a:ext cx="8131051" cy="728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2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3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4" name="TextBox 10"/>
          <p:cNvSpPr txBox="1"/>
          <p:nvPr/>
        </p:nvSpPr>
        <p:spPr>
          <a:xfrm>
            <a:off x="1143000" y="10850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Key Files — Cơ Bản vs Chuyên Sâu</a:t>
            </a:r>
          </a:p>
        </p:txBody>
      </p:sp>
      <p:sp>
        <p:nvSpPr>
          <p:cNvPr id="805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6" name="TextBox 12"/>
          <p:cNvSpPr txBox="1"/>
          <p:nvPr/>
        </p:nvSpPr>
        <p:spPr>
          <a:xfrm>
            <a:off x="1142999" y="2606039"/>
            <a:ext cx="160020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Section 4: API Gateway</a:t>
            </a:r>
          </a:p>
        </p:txBody>
      </p:sp>
      <p:grpSp>
        <p:nvGrpSpPr>
          <p:cNvPr id="809" name="Rectangle 13"/>
          <p:cNvGrpSpPr/>
          <p:nvPr/>
        </p:nvGrpSpPr>
        <p:grpSpPr>
          <a:xfrm>
            <a:off x="1097280" y="3081528"/>
            <a:ext cx="7680960" cy="1188720"/>
            <a:chOff x="0" y="0"/>
            <a:chExt cx="7680959" cy="1188719"/>
          </a:xfrm>
        </p:grpSpPr>
        <p:sp>
          <p:nvSpPr>
            <p:cNvPr id="807" name="Rectangle"/>
            <p:cNvSpPr/>
            <p:nvPr/>
          </p:nvSpPr>
          <p:spPr>
            <a:xfrm>
              <a:off x="0" y="0"/>
              <a:ext cx="7680960" cy="1188720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08" name="basic/app.py…"/>
            <p:cNvSpPr txBox="1"/>
            <p:nvPr/>
          </p:nvSpPr>
          <p:spPr>
            <a:xfrm>
              <a:off x="2454692" y="345439"/>
              <a:ext cx="2771575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basic/app.py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→ API Key auth (30 lines)</a:t>
              </a:r>
            </a:p>
          </p:txBody>
        </p:sp>
      </p:grpSp>
      <p:sp>
        <p:nvSpPr>
          <p:cNvPr id="810" name="TextBox 14"/>
          <p:cNvSpPr txBox="1"/>
          <p:nvPr/>
        </p:nvSpPr>
        <p:spPr>
          <a:xfrm>
            <a:off x="8961119" y="3410711"/>
            <a:ext cx="17373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6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  nâng cấp</a:t>
            </a:r>
          </a:p>
        </p:txBody>
      </p:sp>
      <p:grpSp>
        <p:nvGrpSpPr>
          <p:cNvPr id="813" name="Rectangle 15"/>
          <p:cNvGrpSpPr/>
          <p:nvPr/>
        </p:nvGrpSpPr>
        <p:grpSpPr>
          <a:xfrm>
            <a:off x="10789919" y="3081528"/>
            <a:ext cx="6583681" cy="1188720"/>
            <a:chOff x="0" y="0"/>
            <a:chExt cx="6583680" cy="1188719"/>
          </a:xfrm>
        </p:grpSpPr>
        <p:sp>
          <p:nvSpPr>
            <p:cNvPr id="811" name="Rectangle"/>
            <p:cNvSpPr/>
            <p:nvPr/>
          </p:nvSpPr>
          <p:spPr>
            <a:xfrm>
              <a:off x="-1" y="0"/>
              <a:ext cx="6583682" cy="1188720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12" name="advanced/auth.py + rate_limiter.py + cost_guard.py…"/>
            <p:cNvSpPr txBox="1"/>
            <p:nvPr/>
          </p:nvSpPr>
          <p:spPr>
            <a:xfrm>
              <a:off x="572336" y="345439"/>
              <a:ext cx="5439009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advanced/auth.py + rate_limiter.py + cost_guard.py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→ JWT + Sliding Window + Budget cap</a:t>
              </a:r>
            </a:p>
          </p:txBody>
        </p:sp>
      </p:grpSp>
      <p:sp>
        <p:nvSpPr>
          <p:cNvPr id="814" name="TextBox 16"/>
          <p:cNvSpPr txBox="1"/>
          <p:nvPr/>
        </p:nvSpPr>
        <p:spPr>
          <a:xfrm>
            <a:off x="1142999" y="5989320"/>
            <a:ext cx="160020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Section 5: Scaling</a:t>
            </a:r>
          </a:p>
        </p:txBody>
      </p:sp>
      <p:grpSp>
        <p:nvGrpSpPr>
          <p:cNvPr id="817" name="Rectangle 17"/>
          <p:cNvGrpSpPr/>
          <p:nvPr/>
        </p:nvGrpSpPr>
        <p:grpSpPr>
          <a:xfrm>
            <a:off x="1097280" y="6464808"/>
            <a:ext cx="7680960" cy="1188721"/>
            <a:chOff x="0" y="0"/>
            <a:chExt cx="7680959" cy="1188719"/>
          </a:xfrm>
        </p:grpSpPr>
        <p:sp>
          <p:nvSpPr>
            <p:cNvPr id="815" name="Rectangle"/>
            <p:cNvSpPr/>
            <p:nvPr/>
          </p:nvSpPr>
          <p:spPr>
            <a:xfrm>
              <a:off x="0" y="0"/>
              <a:ext cx="7680960" cy="1188720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16" name="basic/app.py…"/>
            <p:cNvSpPr txBox="1"/>
            <p:nvPr/>
          </p:nvSpPr>
          <p:spPr>
            <a:xfrm>
              <a:off x="1761159" y="345439"/>
              <a:ext cx="4158641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basic/app.py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→ /health + /ready + graceful shutdown</a:t>
              </a:r>
            </a:p>
          </p:txBody>
        </p:sp>
      </p:grpSp>
      <p:sp>
        <p:nvSpPr>
          <p:cNvPr id="818" name="TextBox 18"/>
          <p:cNvSpPr txBox="1"/>
          <p:nvPr/>
        </p:nvSpPr>
        <p:spPr>
          <a:xfrm>
            <a:off x="8961119" y="6793992"/>
            <a:ext cx="17373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6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→  nâng cấp</a:t>
            </a:r>
          </a:p>
        </p:txBody>
      </p:sp>
      <p:grpSp>
        <p:nvGrpSpPr>
          <p:cNvPr id="821" name="Rectangle 19"/>
          <p:cNvGrpSpPr/>
          <p:nvPr/>
        </p:nvGrpSpPr>
        <p:grpSpPr>
          <a:xfrm>
            <a:off x="10789919" y="6464808"/>
            <a:ext cx="6583681" cy="1188721"/>
            <a:chOff x="0" y="0"/>
            <a:chExt cx="6583680" cy="1188719"/>
          </a:xfrm>
        </p:grpSpPr>
        <p:sp>
          <p:nvSpPr>
            <p:cNvPr id="819" name="Rectangle"/>
            <p:cNvSpPr/>
            <p:nvPr/>
          </p:nvSpPr>
          <p:spPr>
            <a:xfrm>
              <a:off x="-1" y="0"/>
              <a:ext cx="6583682" cy="1188720"/>
            </a:xfrm>
            <a:prstGeom prst="rect">
              <a:avLst/>
            </a:prstGeom>
            <a:solidFill>
              <a:srgbClr val="1E1E2E"/>
            </a:solidFill>
            <a:ln w="12700" cap="flat">
              <a:solidFill>
                <a:srgbClr val="44446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20" name="advanced/app.py + docker-compose.yml…"/>
            <p:cNvSpPr txBox="1"/>
            <p:nvPr/>
          </p:nvSpPr>
          <p:spPr>
            <a:xfrm>
              <a:off x="1105822" y="345439"/>
              <a:ext cx="4372036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4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advanced/app.py + docker-compose.yml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FFFE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→ Redis sessions + 3 replicas + Nginx LB</a:t>
              </a:r>
            </a:p>
          </p:txBody>
        </p:sp>
      </p:grpSp>
      <p:sp>
        <p:nvSpPr>
          <p:cNvPr id="822" name="TextBox 20"/>
          <p:cNvSpPr txBox="1"/>
          <p:nvPr/>
        </p:nvSpPr>
        <p:spPr>
          <a:xfrm>
            <a:off x="1142999" y="9217152"/>
            <a:ext cx="160020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utils/mock_llm.py  →  Dùng chung cho tất cả sections (không cần API key thật)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5" name="Freeform 3"/>
          <p:cNvSpPr/>
          <p:nvPr/>
        </p:nvSpPr>
        <p:spPr>
          <a:xfrm>
            <a:off x="0" y="-177933"/>
            <a:ext cx="18288000" cy="44958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6" name="Freeform 4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7" name="Freeform 5"/>
          <p:cNvSpPr/>
          <p:nvPr/>
        </p:nvSpPr>
        <p:spPr>
          <a:xfrm>
            <a:off x="13422238" y="8762217"/>
            <a:ext cx="4106320" cy="49608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8" name="Freeform 6"/>
          <p:cNvSpPr/>
          <p:nvPr/>
        </p:nvSpPr>
        <p:spPr>
          <a:xfrm>
            <a:off x="12390119" y="9396590"/>
            <a:ext cx="5138438" cy="28711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9" name="AutoShape 9"/>
          <p:cNvSpPr/>
          <p:nvPr/>
        </p:nvSpPr>
        <p:spPr>
          <a:xfrm>
            <a:off x="6512462" y="2440031"/>
            <a:ext cx="7379210" cy="1"/>
          </a:xfrm>
          <a:prstGeom prst="line">
            <a:avLst/>
          </a:prstGeom>
          <a:ln w="38100">
            <a:solidFill>
              <a:srgbClr val="A6A6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0" name="TextBox 9"/>
          <p:cNvSpPr txBox="1"/>
          <p:nvPr/>
        </p:nvSpPr>
        <p:spPr>
          <a:xfrm>
            <a:off x="1143000" y="2286000"/>
            <a:ext cx="5394960" cy="146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9000">
                <a:solidFill>
                  <a:srgbClr val="81C784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LAB</a:t>
            </a:r>
          </a:p>
        </p:txBody>
      </p:sp>
      <p:sp>
        <p:nvSpPr>
          <p:cNvPr id="831" name="TextBox 10"/>
          <p:cNvSpPr txBox="1"/>
          <p:nvPr/>
        </p:nvSpPr>
        <p:spPr>
          <a:xfrm>
            <a:off x="6446520" y="2834639"/>
            <a:ext cx="10424160" cy="1663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defRPr sz="46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pPr>
            <a:r>
              <a:t>LAB 12</a:t>
            </a:r>
          </a:p>
          <a:p>
            <a:pPr>
              <a:lnSpc>
                <a:spcPct val="125000"/>
              </a:lnSpc>
              <a:defRPr sz="46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pPr>
            <a:r>
              <a:t>CONTAINERIZE &amp; DEPLOY</a:t>
            </a:r>
          </a:p>
        </p:txBody>
      </p:sp>
      <p:sp>
        <p:nvSpPr>
          <p:cNvPr id="832" name="TextBox 11"/>
          <p:cNvSpPr txBox="1"/>
          <p:nvPr/>
        </p:nvSpPr>
        <p:spPr>
          <a:xfrm>
            <a:off x="6446520" y="5029200"/>
            <a:ext cx="10424160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20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Mục tiêu: agent có public URL ai cũng truy cập được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5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6" name="Freeform 5"/>
          <p:cNvSpPr/>
          <p:nvPr/>
        </p:nvSpPr>
        <p:spPr>
          <a:xfrm>
            <a:off x="1028699" y="1028699"/>
            <a:ext cx="7132223" cy="728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7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8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9" name="TextBox 10"/>
          <p:cNvSpPr txBox="1"/>
          <p:nvPr/>
        </p:nvSpPr>
        <p:spPr>
          <a:xfrm>
            <a:off x="1143000" y="10850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Lab 12 — Các Bước Thực Hiện</a:t>
            </a:r>
          </a:p>
        </p:txBody>
      </p:sp>
      <p:sp>
        <p:nvSpPr>
          <p:cNvPr id="840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1" name="Rectangle 12"/>
          <p:cNvSpPr/>
          <p:nvPr/>
        </p:nvSpPr>
        <p:spPr>
          <a:xfrm>
            <a:off x="1097280" y="2578607"/>
            <a:ext cx="548641" cy="548641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2" name="TextBox 13"/>
          <p:cNvSpPr txBox="1"/>
          <p:nvPr/>
        </p:nvSpPr>
        <p:spPr>
          <a:xfrm>
            <a:off x="1161287" y="2587751"/>
            <a:ext cx="42062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20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43" name="TextBox 14"/>
          <p:cNvSpPr txBox="1"/>
          <p:nvPr/>
        </p:nvSpPr>
        <p:spPr>
          <a:xfrm>
            <a:off x="1874520" y="2587751"/>
            <a:ext cx="4937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Viết Dockerfile</a:t>
            </a:r>
          </a:p>
        </p:txBody>
      </p:sp>
      <p:sp>
        <p:nvSpPr>
          <p:cNvPr id="844" name="TextBox 15"/>
          <p:cNvSpPr txBox="1"/>
          <p:nvPr/>
        </p:nvSpPr>
        <p:spPr>
          <a:xfrm>
            <a:off x="1874519" y="3063239"/>
            <a:ext cx="1490472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Multi-stage build, non-root user, HEALTHCHECK. Target &lt; 500 MB.</a:t>
            </a:r>
          </a:p>
        </p:txBody>
      </p:sp>
      <p:sp>
        <p:nvSpPr>
          <p:cNvPr id="845" name="Rectangle 16"/>
          <p:cNvSpPr/>
          <p:nvPr/>
        </p:nvSpPr>
        <p:spPr>
          <a:xfrm>
            <a:off x="1097280" y="3877055"/>
            <a:ext cx="548641" cy="548641"/>
          </a:xfrm>
          <a:prstGeom prst="rect">
            <a:avLst/>
          </a:prstGeom>
          <a:solidFill>
            <a:srgbClr val="81C7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6" name="TextBox 17"/>
          <p:cNvSpPr txBox="1"/>
          <p:nvPr/>
        </p:nvSpPr>
        <p:spPr>
          <a:xfrm>
            <a:off x="1161287" y="3886200"/>
            <a:ext cx="420625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20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47" name="TextBox 18"/>
          <p:cNvSpPr txBox="1"/>
          <p:nvPr/>
        </p:nvSpPr>
        <p:spPr>
          <a:xfrm>
            <a:off x="1874520" y="3886200"/>
            <a:ext cx="4937760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Build &amp; Test Local</a:t>
            </a:r>
          </a:p>
        </p:txBody>
      </p:sp>
      <p:sp>
        <p:nvSpPr>
          <p:cNvPr id="848" name="TextBox 19"/>
          <p:cNvSpPr txBox="1"/>
          <p:nvPr/>
        </p:nvSpPr>
        <p:spPr>
          <a:xfrm>
            <a:off x="1874519" y="4361688"/>
            <a:ext cx="1490472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docker build -t my-agent .  →  docker run -p 8000:8000 my-agent</a:t>
            </a:r>
          </a:p>
        </p:txBody>
      </p:sp>
      <p:sp>
        <p:nvSpPr>
          <p:cNvPr id="849" name="Rectangle 20"/>
          <p:cNvSpPr/>
          <p:nvPr/>
        </p:nvSpPr>
        <p:spPr>
          <a:xfrm>
            <a:off x="1097280" y="5175503"/>
            <a:ext cx="548641" cy="548641"/>
          </a:xfrm>
          <a:prstGeom prst="rect">
            <a:avLst/>
          </a:prstGeom>
          <a:solidFill>
            <a:srgbClr val="FFB74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0" name="TextBox 21"/>
          <p:cNvSpPr txBox="1"/>
          <p:nvPr/>
        </p:nvSpPr>
        <p:spPr>
          <a:xfrm>
            <a:off x="1161287" y="5184647"/>
            <a:ext cx="42062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20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51" name="TextBox 22"/>
          <p:cNvSpPr txBox="1"/>
          <p:nvPr/>
        </p:nvSpPr>
        <p:spPr>
          <a:xfrm>
            <a:off x="1874520" y="5184647"/>
            <a:ext cx="4937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Deploy Railway / Render</a:t>
            </a:r>
          </a:p>
        </p:txBody>
      </p:sp>
      <p:sp>
        <p:nvSpPr>
          <p:cNvPr id="852" name="TextBox 23"/>
          <p:cNvSpPr txBox="1"/>
          <p:nvPr/>
        </p:nvSpPr>
        <p:spPr>
          <a:xfrm>
            <a:off x="1874519" y="5660135"/>
            <a:ext cx="1490472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Connect GitHub → Set env vars → Deploy → Nhận public URL</a:t>
            </a:r>
          </a:p>
        </p:txBody>
      </p:sp>
      <p:sp>
        <p:nvSpPr>
          <p:cNvPr id="853" name="Rectangle 24"/>
          <p:cNvSpPr/>
          <p:nvPr/>
        </p:nvSpPr>
        <p:spPr>
          <a:xfrm>
            <a:off x="1097280" y="6473952"/>
            <a:ext cx="548641" cy="548641"/>
          </a:xfrm>
          <a:prstGeom prst="rect">
            <a:avLst/>
          </a:prstGeom>
          <a:solidFill>
            <a:srgbClr val="FFEE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4" name="TextBox 25"/>
          <p:cNvSpPr txBox="1"/>
          <p:nvPr/>
        </p:nvSpPr>
        <p:spPr>
          <a:xfrm>
            <a:off x="1161287" y="6483096"/>
            <a:ext cx="42062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20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55" name="TextBox 26"/>
          <p:cNvSpPr txBox="1"/>
          <p:nvPr/>
        </p:nvSpPr>
        <p:spPr>
          <a:xfrm>
            <a:off x="1874520" y="6483096"/>
            <a:ext cx="4937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FFEE5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Health Check Endpoint</a:t>
            </a:r>
          </a:p>
        </p:txBody>
      </p:sp>
      <p:sp>
        <p:nvSpPr>
          <p:cNvPr id="856" name="TextBox 27"/>
          <p:cNvSpPr txBox="1"/>
          <p:nvPr/>
        </p:nvSpPr>
        <p:spPr>
          <a:xfrm>
            <a:off x="1874519" y="6958583"/>
            <a:ext cx="1490472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GET /health trả về: status, uptime, version, dependencies</a:t>
            </a:r>
          </a:p>
        </p:txBody>
      </p:sp>
      <p:sp>
        <p:nvSpPr>
          <p:cNvPr id="857" name="Rectangle 28"/>
          <p:cNvSpPr/>
          <p:nvPr/>
        </p:nvSpPr>
        <p:spPr>
          <a:xfrm>
            <a:off x="1097280" y="7772399"/>
            <a:ext cx="548641" cy="548641"/>
          </a:xfrm>
          <a:prstGeom prst="rect">
            <a:avLst/>
          </a:prstGeom>
          <a:solidFill>
            <a:srgbClr val="EF53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8" name="TextBox 29"/>
          <p:cNvSpPr txBox="1"/>
          <p:nvPr/>
        </p:nvSpPr>
        <p:spPr>
          <a:xfrm>
            <a:off x="1161287" y="7781543"/>
            <a:ext cx="42062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20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859" name="TextBox 30"/>
          <p:cNvSpPr txBox="1"/>
          <p:nvPr/>
        </p:nvSpPr>
        <p:spPr>
          <a:xfrm>
            <a:off x="1874520" y="7781543"/>
            <a:ext cx="4937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Basic Authentication</a:t>
            </a:r>
          </a:p>
        </p:txBody>
      </p:sp>
      <p:sp>
        <p:nvSpPr>
          <p:cNvPr id="860" name="TextBox 31"/>
          <p:cNvSpPr txBox="1"/>
          <p:nvPr/>
        </p:nvSpPr>
        <p:spPr>
          <a:xfrm>
            <a:off x="1874519" y="8257030"/>
            <a:ext cx="1490472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API Key header: X-API-Key. Reject 401 nếu thiếu hoặc sai key.</a:t>
            </a:r>
          </a:p>
        </p:txBody>
      </p:sp>
      <p:sp>
        <p:nvSpPr>
          <p:cNvPr id="861" name="Rectangle 32"/>
          <p:cNvSpPr/>
          <p:nvPr/>
        </p:nvSpPr>
        <p:spPr>
          <a:xfrm>
            <a:off x="1097280" y="9070847"/>
            <a:ext cx="548641" cy="548641"/>
          </a:xfrm>
          <a:prstGeom prst="rect">
            <a:avLst/>
          </a:prstGeom>
          <a:solidFill>
            <a:srgbClr val="FFFE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2" name="TextBox 33"/>
          <p:cNvSpPr txBox="1"/>
          <p:nvPr/>
        </p:nvSpPr>
        <p:spPr>
          <a:xfrm>
            <a:off x="1161287" y="9079992"/>
            <a:ext cx="42062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20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863" name="TextBox 34"/>
          <p:cNvSpPr txBox="1"/>
          <p:nvPr/>
        </p:nvSpPr>
        <p:spPr>
          <a:xfrm>
            <a:off x="1874520" y="9079992"/>
            <a:ext cx="493776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Demo Request → Response</a:t>
            </a:r>
          </a:p>
        </p:txBody>
      </p:sp>
      <p:sp>
        <p:nvSpPr>
          <p:cNvPr id="864" name="TextBox 35"/>
          <p:cNvSpPr txBox="1"/>
          <p:nvPr/>
        </p:nvSpPr>
        <p:spPr>
          <a:xfrm>
            <a:off x="1874519" y="9555480"/>
            <a:ext cx="1490472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curl -H 'X-API-Key: ...' -X POST https://your-url/ask -d '{"question":"..."}'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7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8" name="Freeform 5"/>
          <p:cNvSpPr/>
          <p:nvPr/>
        </p:nvSpPr>
        <p:spPr>
          <a:xfrm>
            <a:off x="1028699" y="1028700"/>
            <a:ext cx="5440822" cy="72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9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0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1" name="TextBox 10"/>
          <p:cNvSpPr txBox="1"/>
          <p:nvPr/>
        </p:nvSpPr>
        <p:spPr>
          <a:xfrm>
            <a:off x="1143000" y="10342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Blueprint Cần Nộp</a:t>
            </a:r>
          </a:p>
        </p:txBody>
      </p:sp>
      <p:sp>
        <p:nvSpPr>
          <p:cNvPr id="872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3" name="Rectangle 12"/>
          <p:cNvSpPr/>
          <p:nvPr/>
        </p:nvSpPr>
        <p:spPr>
          <a:xfrm>
            <a:off x="1097279" y="2377439"/>
            <a:ext cx="16093441" cy="685801"/>
          </a:xfrm>
          <a:prstGeom prst="rect">
            <a:avLst/>
          </a:prstGeom>
          <a:solidFill>
            <a:srgbClr val="0A2A12"/>
          </a:solidFill>
          <a:ln w="254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4" name="TextBox 13"/>
          <p:cNvSpPr txBox="1"/>
          <p:nvPr/>
        </p:nvSpPr>
        <p:spPr>
          <a:xfrm>
            <a:off x="1280159" y="2487167"/>
            <a:ext cx="1563624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600">
                <a:solidFill>
                  <a:srgbClr val="C8F7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Không cần enterprise-grade. Cần chứng minh: biết đưa agent từ localhost lên cloud và nó hoạt động.</a:t>
            </a:r>
          </a:p>
        </p:txBody>
      </p:sp>
      <p:sp>
        <p:nvSpPr>
          <p:cNvPr id="875" name="TextBox 14"/>
          <p:cNvSpPr txBox="1"/>
          <p:nvPr/>
        </p:nvSpPr>
        <p:spPr>
          <a:xfrm>
            <a:off x="1143000" y="3246120"/>
            <a:ext cx="722376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📦  Container</a:t>
            </a:r>
          </a:p>
        </p:txBody>
      </p:sp>
      <p:sp>
        <p:nvSpPr>
          <p:cNvPr id="876" name="TextBox 15"/>
          <p:cNvSpPr txBox="1"/>
          <p:nvPr/>
        </p:nvSpPr>
        <p:spPr>
          <a:xfrm>
            <a:off x="9464039" y="3246120"/>
            <a:ext cx="76809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☁️  Deployment</a:t>
            </a:r>
          </a:p>
        </p:txBody>
      </p:sp>
      <p:sp>
        <p:nvSpPr>
          <p:cNvPr id="877" name="Rectangle 16"/>
          <p:cNvSpPr/>
          <p:nvPr/>
        </p:nvSpPr>
        <p:spPr>
          <a:xfrm>
            <a:off x="1097280" y="3703320"/>
            <a:ext cx="8046719" cy="987553"/>
          </a:xfrm>
          <a:prstGeom prst="rect">
            <a:avLst/>
          </a:prstGeom>
          <a:solidFill>
            <a:srgbClr val="1A2B3C"/>
          </a:solidFill>
          <a:ln w="127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8" name="TextBox 17"/>
          <p:cNvSpPr txBox="1"/>
          <p:nvPr/>
        </p:nvSpPr>
        <p:spPr>
          <a:xfrm>
            <a:off x="1280159" y="3794759"/>
            <a:ext cx="76809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Dockerfile</a:t>
            </a:r>
          </a:p>
        </p:txBody>
      </p:sp>
      <p:sp>
        <p:nvSpPr>
          <p:cNvPr id="879" name="TextBox 18"/>
          <p:cNvSpPr txBox="1"/>
          <p:nvPr/>
        </p:nvSpPr>
        <p:spPr>
          <a:xfrm>
            <a:off x="1280159" y="4233671"/>
            <a:ext cx="76809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4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Multi-stage build, &lt; 500 MB, non-root user</a:t>
            </a:r>
          </a:p>
        </p:txBody>
      </p:sp>
      <p:sp>
        <p:nvSpPr>
          <p:cNvPr id="880" name="Rectangle 19"/>
          <p:cNvSpPr/>
          <p:nvPr/>
        </p:nvSpPr>
        <p:spPr>
          <a:xfrm>
            <a:off x="1097280" y="4818888"/>
            <a:ext cx="8046719" cy="987553"/>
          </a:xfrm>
          <a:prstGeom prst="rect">
            <a:avLst/>
          </a:prstGeom>
          <a:solidFill>
            <a:srgbClr val="1A2B3C"/>
          </a:solidFill>
          <a:ln w="127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TextBox 20"/>
          <p:cNvSpPr txBox="1"/>
          <p:nvPr/>
        </p:nvSpPr>
        <p:spPr>
          <a:xfrm>
            <a:off x="1280159" y="4910327"/>
            <a:ext cx="76809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docker-compose.yml</a:t>
            </a:r>
          </a:p>
        </p:txBody>
      </p:sp>
      <p:sp>
        <p:nvSpPr>
          <p:cNvPr id="882" name="TextBox 21"/>
          <p:cNvSpPr txBox="1"/>
          <p:nvPr/>
        </p:nvSpPr>
        <p:spPr>
          <a:xfrm>
            <a:off x="1280159" y="5349240"/>
            <a:ext cx="76809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4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Agent + dependencies</a:t>
            </a:r>
          </a:p>
        </p:txBody>
      </p:sp>
      <p:sp>
        <p:nvSpPr>
          <p:cNvPr id="883" name="Rectangle 22"/>
          <p:cNvSpPr/>
          <p:nvPr/>
        </p:nvSpPr>
        <p:spPr>
          <a:xfrm>
            <a:off x="1097280" y="5934455"/>
            <a:ext cx="8046719" cy="987554"/>
          </a:xfrm>
          <a:prstGeom prst="rect">
            <a:avLst/>
          </a:prstGeom>
          <a:solidFill>
            <a:srgbClr val="1A2B3C"/>
          </a:solidFill>
          <a:ln w="127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4" name="TextBox 23"/>
          <p:cNvSpPr txBox="1"/>
          <p:nvPr/>
        </p:nvSpPr>
        <p:spPr>
          <a:xfrm>
            <a:off x="1280159" y="6025896"/>
            <a:ext cx="76809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.dockerignore</a:t>
            </a:r>
          </a:p>
        </p:txBody>
      </p:sp>
      <p:sp>
        <p:nvSpPr>
          <p:cNvPr id="885" name="TextBox 24"/>
          <p:cNvSpPr txBox="1"/>
          <p:nvPr/>
        </p:nvSpPr>
        <p:spPr>
          <a:xfrm>
            <a:off x="1280159" y="6464808"/>
            <a:ext cx="76809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4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Loại bỏ .env, __pycache__, venv/</a:t>
            </a:r>
          </a:p>
        </p:txBody>
      </p:sp>
      <p:sp>
        <p:nvSpPr>
          <p:cNvPr id="886" name="Rectangle 25"/>
          <p:cNvSpPr/>
          <p:nvPr/>
        </p:nvSpPr>
        <p:spPr>
          <a:xfrm>
            <a:off x="1097280" y="7050023"/>
            <a:ext cx="8046719" cy="987553"/>
          </a:xfrm>
          <a:prstGeom prst="rect">
            <a:avLst/>
          </a:prstGeom>
          <a:solidFill>
            <a:srgbClr val="1A2B3C"/>
          </a:solidFill>
          <a:ln w="127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7" name="TextBox 26"/>
          <p:cNvSpPr txBox="1"/>
          <p:nvPr/>
        </p:nvSpPr>
        <p:spPr>
          <a:xfrm>
            <a:off x="1280159" y="7141464"/>
            <a:ext cx="76809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GET /health</a:t>
            </a:r>
          </a:p>
        </p:txBody>
      </p:sp>
      <p:sp>
        <p:nvSpPr>
          <p:cNvPr id="888" name="TextBox 27"/>
          <p:cNvSpPr txBox="1"/>
          <p:nvPr/>
        </p:nvSpPr>
        <p:spPr>
          <a:xfrm>
            <a:off x="1280159" y="7580375"/>
            <a:ext cx="76809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4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Trả về status + uptime + version</a:t>
            </a:r>
          </a:p>
        </p:txBody>
      </p:sp>
      <p:sp>
        <p:nvSpPr>
          <p:cNvPr id="889" name="Rectangle 28"/>
          <p:cNvSpPr/>
          <p:nvPr/>
        </p:nvSpPr>
        <p:spPr>
          <a:xfrm>
            <a:off x="1097280" y="8165592"/>
            <a:ext cx="8046719" cy="987553"/>
          </a:xfrm>
          <a:prstGeom prst="rect">
            <a:avLst/>
          </a:prstGeom>
          <a:solidFill>
            <a:srgbClr val="1A2B3C"/>
          </a:solidFill>
          <a:ln w="127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0" name="TextBox 29"/>
          <p:cNvSpPr txBox="1"/>
          <p:nvPr/>
        </p:nvSpPr>
        <p:spPr>
          <a:xfrm>
            <a:off x="1280159" y="8257030"/>
            <a:ext cx="76809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GET /ready</a:t>
            </a:r>
          </a:p>
        </p:txBody>
      </p:sp>
      <p:sp>
        <p:nvSpPr>
          <p:cNvPr id="891" name="TextBox 30"/>
          <p:cNvSpPr txBox="1"/>
          <p:nvPr/>
        </p:nvSpPr>
        <p:spPr>
          <a:xfrm>
            <a:off x="1280159" y="8695943"/>
            <a:ext cx="76809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4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Readiness check</a:t>
            </a:r>
          </a:p>
        </p:txBody>
      </p:sp>
      <p:sp>
        <p:nvSpPr>
          <p:cNvPr id="892" name="Rectangle 31"/>
          <p:cNvSpPr/>
          <p:nvPr/>
        </p:nvSpPr>
        <p:spPr>
          <a:xfrm>
            <a:off x="9418319" y="3703320"/>
            <a:ext cx="7772401" cy="987553"/>
          </a:xfrm>
          <a:prstGeom prst="rect">
            <a:avLst/>
          </a:prstGeom>
          <a:solidFill>
            <a:srgbClr val="1A2B3C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3" name="TextBox 32"/>
          <p:cNvSpPr txBox="1"/>
          <p:nvPr/>
        </p:nvSpPr>
        <p:spPr>
          <a:xfrm>
            <a:off x="9601200" y="3794759"/>
            <a:ext cx="740664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Public URL</a:t>
            </a:r>
          </a:p>
        </p:txBody>
      </p:sp>
      <p:sp>
        <p:nvSpPr>
          <p:cNvPr id="894" name="TextBox 33"/>
          <p:cNvSpPr txBox="1"/>
          <p:nvPr/>
        </p:nvSpPr>
        <p:spPr>
          <a:xfrm>
            <a:off x="9601200" y="4233671"/>
            <a:ext cx="740664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4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https://your-app.up.railway.app</a:t>
            </a:r>
          </a:p>
        </p:txBody>
      </p:sp>
      <p:sp>
        <p:nvSpPr>
          <p:cNvPr id="895" name="Rectangle 34"/>
          <p:cNvSpPr/>
          <p:nvPr/>
        </p:nvSpPr>
        <p:spPr>
          <a:xfrm>
            <a:off x="9418319" y="4818888"/>
            <a:ext cx="7772401" cy="987553"/>
          </a:xfrm>
          <a:prstGeom prst="rect">
            <a:avLst/>
          </a:prstGeom>
          <a:solidFill>
            <a:srgbClr val="1A2B3C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6" name="TextBox 35"/>
          <p:cNvSpPr txBox="1"/>
          <p:nvPr/>
        </p:nvSpPr>
        <p:spPr>
          <a:xfrm>
            <a:off x="9601200" y="4910327"/>
            <a:ext cx="740664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Env vars</a:t>
            </a:r>
          </a:p>
        </p:txBody>
      </p:sp>
      <p:sp>
        <p:nvSpPr>
          <p:cNvPr id="897" name="TextBox 36"/>
          <p:cNvSpPr txBox="1"/>
          <p:nvPr/>
        </p:nvSpPr>
        <p:spPr>
          <a:xfrm>
            <a:off x="9601200" y="5349240"/>
            <a:ext cx="740664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4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Secrets trong env, không hardcode</a:t>
            </a:r>
          </a:p>
        </p:txBody>
      </p:sp>
      <p:sp>
        <p:nvSpPr>
          <p:cNvPr id="898" name="Rectangle 37"/>
          <p:cNvSpPr/>
          <p:nvPr/>
        </p:nvSpPr>
        <p:spPr>
          <a:xfrm>
            <a:off x="9418319" y="5934455"/>
            <a:ext cx="7772401" cy="987554"/>
          </a:xfrm>
          <a:prstGeom prst="rect">
            <a:avLst/>
          </a:prstGeom>
          <a:solidFill>
            <a:srgbClr val="1A2B3C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TextBox 38"/>
          <p:cNvSpPr txBox="1"/>
          <p:nvPr/>
        </p:nvSpPr>
        <p:spPr>
          <a:xfrm>
            <a:off x="9601200" y="6025896"/>
            <a:ext cx="740664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API Key auth</a:t>
            </a:r>
          </a:p>
        </p:txBody>
      </p:sp>
      <p:sp>
        <p:nvSpPr>
          <p:cNvPr id="900" name="TextBox 39"/>
          <p:cNvSpPr txBox="1"/>
          <p:nvPr/>
        </p:nvSpPr>
        <p:spPr>
          <a:xfrm>
            <a:off x="9601200" y="6464808"/>
            <a:ext cx="740664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4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X-API-Key header, 401 nếu thiếu</a:t>
            </a:r>
          </a:p>
        </p:txBody>
      </p:sp>
      <p:sp>
        <p:nvSpPr>
          <p:cNvPr id="901" name="Rectangle 40"/>
          <p:cNvSpPr/>
          <p:nvPr/>
        </p:nvSpPr>
        <p:spPr>
          <a:xfrm>
            <a:off x="9418319" y="7050023"/>
            <a:ext cx="7772401" cy="987553"/>
          </a:xfrm>
          <a:prstGeom prst="rect">
            <a:avLst/>
          </a:prstGeom>
          <a:solidFill>
            <a:srgbClr val="1A2B3C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2" name="TextBox 41"/>
          <p:cNvSpPr txBox="1"/>
          <p:nvPr/>
        </p:nvSpPr>
        <p:spPr>
          <a:xfrm>
            <a:off x="9601200" y="7141464"/>
            <a:ext cx="740664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Demo</a:t>
            </a:r>
          </a:p>
        </p:txBody>
      </p:sp>
      <p:sp>
        <p:nvSpPr>
          <p:cNvPr id="903" name="TextBox 42"/>
          <p:cNvSpPr txBox="1"/>
          <p:nvPr/>
        </p:nvSpPr>
        <p:spPr>
          <a:xfrm>
            <a:off x="9601200" y="7580375"/>
            <a:ext cx="7406640" cy="3107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4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Request → Response qua public URL</a:t>
            </a:r>
          </a:p>
        </p:txBody>
      </p:sp>
      <p:sp>
        <p:nvSpPr>
          <p:cNvPr id="904" name="Rectangle 43"/>
          <p:cNvSpPr/>
          <p:nvPr/>
        </p:nvSpPr>
        <p:spPr>
          <a:xfrm>
            <a:off x="9418319" y="8165592"/>
            <a:ext cx="7772401" cy="987553"/>
          </a:xfrm>
          <a:prstGeom prst="rect">
            <a:avLst/>
          </a:prstGeom>
          <a:solidFill>
            <a:srgbClr val="1A2B3C"/>
          </a:solidFill>
          <a:ln w="127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5" name="TextBox 44"/>
          <p:cNvSpPr txBox="1"/>
          <p:nvPr/>
        </p:nvSpPr>
        <p:spPr>
          <a:xfrm>
            <a:off x="9601200" y="8257030"/>
            <a:ext cx="740664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16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✅  check_production_ready.py</a:t>
            </a:r>
          </a:p>
        </p:txBody>
      </p:sp>
      <p:sp>
        <p:nvSpPr>
          <p:cNvPr id="906" name="TextBox 45"/>
          <p:cNvSpPr txBox="1"/>
          <p:nvPr/>
        </p:nvSpPr>
        <p:spPr>
          <a:xfrm>
            <a:off x="9601200" y="8695943"/>
            <a:ext cx="740664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4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20/20 checks pass 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9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0" name="Freeform 5"/>
          <p:cNvSpPr/>
          <p:nvPr/>
        </p:nvSpPr>
        <p:spPr>
          <a:xfrm>
            <a:off x="1028699" y="1028700"/>
            <a:ext cx="5440822" cy="72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1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2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3" name="TextBox 10"/>
          <p:cNvSpPr txBox="1"/>
          <p:nvPr/>
        </p:nvSpPr>
        <p:spPr>
          <a:xfrm>
            <a:off x="1143000" y="10215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914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5" name="Rectangle 12"/>
          <p:cNvSpPr/>
          <p:nvPr/>
        </p:nvSpPr>
        <p:spPr>
          <a:xfrm>
            <a:off x="1097279" y="2487167"/>
            <a:ext cx="16093441" cy="1627633"/>
          </a:xfrm>
          <a:prstGeom prst="rect">
            <a:avLst/>
          </a:prstGeom>
          <a:solidFill>
            <a:srgbClr val="1A2B3C"/>
          </a:solidFill>
          <a:ln w="3175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6" name="Rectangle 13"/>
          <p:cNvSpPr/>
          <p:nvPr/>
        </p:nvSpPr>
        <p:spPr>
          <a:xfrm>
            <a:off x="1234439" y="2807207"/>
            <a:ext cx="566929" cy="566929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7" name="TextBox 14"/>
          <p:cNvSpPr txBox="1"/>
          <p:nvPr/>
        </p:nvSpPr>
        <p:spPr>
          <a:xfrm>
            <a:off x="1298447" y="2816351"/>
            <a:ext cx="438913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22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18" name="TextBox 15"/>
          <p:cNvSpPr txBox="1"/>
          <p:nvPr/>
        </p:nvSpPr>
        <p:spPr>
          <a:xfrm>
            <a:off x="2057399" y="2688335"/>
            <a:ext cx="1380744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20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Container = "ship anywhere"</a:t>
            </a:r>
          </a:p>
        </p:txBody>
      </p:sp>
      <p:sp>
        <p:nvSpPr>
          <p:cNvPr id="919" name="TextBox 16"/>
          <p:cNvSpPr txBox="1"/>
          <p:nvPr/>
        </p:nvSpPr>
        <p:spPr>
          <a:xfrm>
            <a:off x="2057399" y="3200400"/>
            <a:ext cx="13807442" cy="349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Docker giải quyết "it works on my machine". Multi-stage + slim image → agent &lt; 500 MB.</a:t>
            </a:r>
          </a:p>
        </p:txBody>
      </p:sp>
      <p:sp>
        <p:nvSpPr>
          <p:cNvPr id="920" name="Rectangle 17"/>
          <p:cNvSpPr/>
          <p:nvPr/>
        </p:nvSpPr>
        <p:spPr>
          <a:xfrm>
            <a:off x="1097279" y="4297679"/>
            <a:ext cx="16093441" cy="1627633"/>
          </a:xfrm>
          <a:prstGeom prst="rect">
            <a:avLst/>
          </a:prstGeom>
          <a:solidFill>
            <a:srgbClr val="1A2B3C"/>
          </a:solidFill>
          <a:ln w="3175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1" name="Rectangle 18"/>
          <p:cNvSpPr/>
          <p:nvPr/>
        </p:nvSpPr>
        <p:spPr>
          <a:xfrm>
            <a:off x="1234439" y="4617720"/>
            <a:ext cx="566929" cy="566929"/>
          </a:xfrm>
          <a:prstGeom prst="rect">
            <a:avLst/>
          </a:prstGeom>
          <a:solidFill>
            <a:srgbClr val="81C7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2" name="TextBox 19"/>
          <p:cNvSpPr txBox="1"/>
          <p:nvPr/>
        </p:nvSpPr>
        <p:spPr>
          <a:xfrm>
            <a:off x="1298447" y="4626864"/>
            <a:ext cx="438913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22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23" name="TextBox 20"/>
          <p:cNvSpPr txBox="1"/>
          <p:nvPr/>
        </p:nvSpPr>
        <p:spPr>
          <a:xfrm>
            <a:off x="2057399" y="4498847"/>
            <a:ext cx="1380744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20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Start simple, migrate later</a:t>
            </a:r>
          </a:p>
        </p:txBody>
      </p:sp>
      <p:sp>
        <p:nvSpPr>
          <p:cNvPr id="924" name="TextBox 21"/>
          <p:cNvSpPr txBox="1"/>
          <p:nvPr/>
        </p:nvSpPr>
        <p:spPr>
          <a:xfrm>
            <a:off x="2057399" y="5010911"/>
            <a:ext cx="1380744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Railway/Render cho MVP (&lt; 10 phút). Migrate AWS/GCP khi business thật sự cần scale.</a:t>
            </a:r>
          </a:p>
        </p:txBody>
      </p:sp>
      <p:sp>
        <p:nvSpPr>
          <p:cNvPr id="925" name="Rectangle 22"/>
          <p:cNvSpPr/>
          <p:nvPr/>
        </p:nvSpPr>
        <p:spPr>
          <a:xfrm>
            <a:off x="1097279" y="6108191"/>
            <a:ext cx="16093441" cy="1627633"/>
          </a:xfrm>
          <a:prstGeom prst="rect">
            <a:avLst/>
          </a:prstGeom>
          <a:solidFill>
            <a:srgbClr val="1A2B3C"/>
          </a:solidFill>
          <a:ln w="3175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6" name="Rectangle 23"/>
          <p:cNvSpPr/>
          <p:nvPr/>
        </p:nvSpPr>
        <p:spPr>
          <a:xfrm>
            <a:off x="1234439" y="6428230"/>
            <a:ext cx="566929" cy="566929"/>
          </a:xfrm>
          <a:prstGeom prst="rect">
            <a:avLst/>
          </a:prstGeom>
          <a:solidFill>
            <a:srgbClr val="FFB74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7" name="TextBox 24"/>
          <p:cNvSpPr txBox="1"/>
          <p:nvPr/>
        </p:nvSpPr>
        <p:spPr>
          <a:xfrm>
            <a:off x="1298447" y="6437376"/>
            <a:ext cx="438913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22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28" name="TextBox 25"/>
          <p:cNvSpPr txBox="1"/>
          <p:nvPr/>
        </p:nvSpPr>
        <p:spPr>
          <a:xfrm>
            <a:off x="2057399" y="6309359"/>
            <a:ext cx="1380744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20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Security from day 1</a:t>
            </a:r>
          </a:p>
        </p:txBody>
      </p:sp>
      <p:sp>
        <p:nvSpPr>
          <p:cNvPr id="929" name="TextBox 26"/>
          <p:cNvSpPr txBox="1"/>
          <p:nvPr/>
        </p:nvSpPr>
        <p:spPr>
          <a:xfrm>
            <a:off x="2057399" y="6821423"/>
            <a:ext cx="1380744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Secrets management + HTTPS + rate limiting + spending caps. Setup trước khi có user thật.</a:t>
            </a:r>
          </a:p>
        </p:txBody>
      </p:sp>
      <p:sp>
        <p:nvSpPr>
          <p:cNvPr id="930" name="Rectangle 27"/>
          <p:cNvSpPr/>
          <p:nvPr/>
        </p:nvSpPr>
        <p:spPr>
          <a:xfrm>
            <a:off x="1097279" y="7918704"/>
            <a:ext cx="16093441" cy="1627633"/>
          </a:xfrm>
          <a:prstGeom prst="rect">
            <a:avLst/>
          </a:prstGeom>
          <a:solidFill>
            <a:srgbClr val="1A2B3C"/>
          </a:solidFill>
          <a:ln w="31750">
            <a:solidFill>
              <a:srgbClr val="FFEE5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1" name="Rectangle 28"/>
          <p:cNvSpPr/>
          <p:nvPr/>
        </p:nvSpPr>
        <p:spPr>
          <a:xfrm>
            <a:off x="1234439" y="8238743"/>
            <a:ext cx="566929" cy="566929"/>
          </a:xfrm>
          <a:prstGeom prst="rect">
            <a:avLst/>
          </a:prstGeom>
          <a:solidFill>
            <a:srgbClr val="FFEE5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2" name="TextBox 29"/>
          <p:cNvSpPr txBox="1"/>
          <p:nvPr/>
        </p:nvSpPr>
        <p:spPr>
          <a:xfrm>
            <a:off x="1298447" y="8247888"/>
            <a:ext cx="438913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22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33" name="TextBox 30"/>
          <p:cNvSpPr txBox="1"/>
          <p:nvPr/>
        </p:nvSpPr>
        <p:spPr>
          <a:xfrm>
            <a:off x="2057399" y="8119871"/>
            <a:ext cx="1380744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2000">
                <a:solidFill>
                  <a:srgbClr val="FFEE5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Health check + rolling deploy = always available</a:t>
            </a:r>
          </a:p>
        </p:txBody>
      </p:sp>
      <p:sp>
        <p:nvSpPr>
          <p:cNvPr id="934" name="TextBox 31"/>
          <p:cNvSpPr txBox="1"/>
          <p:nvPr/>
        </p:nvSpPr>
        <p:spPr>
          <a:xfrm>
            <a:off x="2057399" y="8631935"/>
            <a:ext cx="1380744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Stateless design + Redis cho phép scale bằng cách thêm instances bất kỳ lúc nào.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7" name="Freeform 3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8" name="Freeform 5"/>
          <p:cNvSpPr/>
          <p:nvPr/>
        </p:nvSpPr>
        <p:spPr>
          <a:xfrm>
            <a:off x="1028699" y="1028699"/>
            <a:ext cx="10295457" cy="728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326" y="0"/>
                </a:moveTo>
                <a:lnTo>
                  <a:pt x="20274" y="0"/>
                </a:lnTo>
                <a:cubicBezTo>
                  <a:pt x="20626" y="0"/>
                  <a:pt x="20963" y="1044"/>
                  <a:pt x="21212" y="2901"/>
                </a:cubicBezTo>
                <a:cubicBezTo>
                  <a:pt x="21460" y="4759"/>
                  <a:pt x="21600" y="7278"/>
                  <a:pt x="21600" y="9905"/>
                </a:cubicBezTo>
                <a:lnTo>
                  <a:pt x="21600" y="11695"/>
                </a:lnTo>
                <a:cubicBezTo>
                  <a:pt x="21600" y="17165"/>
                  <a:pt x="21006" y="21600"/>
                  <a:pt x="20274" y="21600"/>
                </a:cubicBezTo>
                <a:lnTo>
                  <a:pt x="1326" y="21600"/>
                </a:lnTo>
                <a:cubicBezTo>
                  <a:pt x="594" y="21600"/>
                  <a:pt x="0" y="17165"/>
                  <a:pt x="0" y="11695"/>
                </a:cubicBezTo>
                <a:lnTo>
                  <a:pt x="0" y="9905"/>
                </a:lnTo>
                <a:cubicBezTo>
                  <a:pt x="0" y="4435"/>
                  <a:pt x="594" y="0"/>
                  <a:pt x="1326" y="0"/>
                </a:cubicBezTo>
                <a:close/>
              </a:path>
            </a:pathLst>
          </a:custGeom>
          <a:gradFill>
            <a:gsLst>
              <a:gs pos="0">
                <a:srgbClr val="000B5B"/>
              </a:gs>
              <a:gs pos="100000">
                <a:srgbClr val="002F7E"/>
              </a:gs>
            </a:gsLst>
          </a:gradFill>
          <a:ln cap="rnd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9" name="Freeform 8"/>
          <p:cNvSpPr/>
          <p:nvPr/>
        </p:nvSpPr>
        <p:spPr>
          <a:xfrm>
            <a:off x="12236183" y="1028700"/>
            <a:ext cx="4907798" cy="59291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0" name="Freeform 9"/>
          <p:cNvSpPr/>
          <p:nvPr/>
        </p:nvSpPr>
        <p:spPr>
          <a:xfrm>
            <a:off x="12120863" y="1680853"/>
            <a:ext cx="5138438" cy="28711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1" name="TextBox 10"/>
          <p:cNvSpPr txBox="1"/>
          <p:nvPr/>
        </p:nvSpPr>
        <p:spPr>
          <a:xfrm>
            <a:off x="1143000" y="1046988"/>
            <a:ext cx="12710160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3800">
                <a:solidFill>
                  <a:srgbClr val="FFFEFF"/>
                </a:solidFill>
                <a:latin typeface="UTM NguyenHa 02"/>
                <a:ea typeface="UTM NguyenHa 02"/>
                <a:cs typeface="UTM NguyenHa 02"/>
                <a:sym typeface="UTM NguyenHa 02"/>
              </a:defRPr>
            </a:lvl1pPr>
          </a:lstStyle>
          <a:p>
            <a:pPr/>
            <a:r>
              <a:t>Preview — Day 13: Monitoring &amp; Observability</a:t>
            </a:r>
          </a:p>
        </p:txBody>
      </p:sp>
      <p:sp>
        <p:nvSpPr>
          <p:cNvPr id="942" name="Rectangle 11"/>
          <p:cNvSpPr/>
          <p:nvPr/>
        </p:nvSpPr>
        <p:spPr>
          <a:xfrm>
            <a:off x="1097279" y="2148839"/>
            <a:ext cx="16093441" cy="27433"/>
          </a:xfrm>
          <a:prstGeom prst="rect">
            <a:avLst/>
          </a:prstGeom>
          <a:solidFill>
            <a:srgbClr val="4FC3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3" name="Rectangle 12"/>
          <p:cNvSpPr/>
          <p:nvPr/>
        </p:nvSpPr>
        <p:spPr>
          <a:xfrm>
            <a:off x="1097279" y="2423160"/>
            <a:ext cx="16093441" cy="1005840"/>
          </a:xfrm>
          <a:prstGeom prst="rect">
            <a:avLst/>
          </a:prstGeom>
          <a:solidFill>
            <a:srgbClr val="0A2A3D"/>
          </a:solidFill>
          <a:ln w="2540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TextBox 13"/>
          <p:cNvSpPr txBox="1"/>
          <p:nvPr/>
        </p:nvSpPr>
        <p:spPr>
          <a:xfrm>
            <a:off x="1280159" y="2514600"/>
            <a:ext cx="15727681" cy="582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4998"/>
              </a:lnSpc>
              <a:defRPr i="1" sz="1500">
                <a:solidFill>
                  <a:srgbClr val="FFCCCC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"Agent deploy xong, 3 ngày sau: latency tăng gấp đôi, cost tăng 300%.</a:t>
            </a:r>
          </a:p>
          <a:p>
            <a:pPr>
              <a:lnSpc>
                <a:spcPct val="114998"/>
              </a:lnSpc>
              <a:defRPr i="1" sz="1500">
                <a:solidFill>
                  <a:srgbClr val="FFCCCC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Bạn không biết cho đến khi user phàn nàn."</a:t>
            </a:r>
          </a:p>
        </p:txBody>
      </p:sp>
      <p:sp>
        <p:nvSpPr>
          <p:cNvPr id="945" name="Rectangle 14"/>
          <p:cNvSpPr/>
          <p:nvPr/>
        </p:nvSpPr>
        <p:spPr>
          <a:xfrm>
            <a:off x="1097280" y="3657600"/>
            <a:ext cx="7955279" cy="1828800"/>
          </a:xfrm>
          <a:prstGeom prst="rect">
            <a:avLst/>
          </a:prstGeom>
          <a:solidFill>
            <a:srgbClr val="1A2B3C"/>
          </a:solidFill>
          <a:ln w="25400">
            <a:solidFill>
              <a:srgbClr val="4FC3F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6" name="TextBox 15"/>
          <p:cNvSpPr txBox="1"/>
          <p:nvPr/>
        </p:nvSpPr>
        <p:spPr>
          <a:xfrm>
            <a:off x="1280159" y="3822191"/>
            <a:ext cx="758952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20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📊 Metrics</a:t>
            </a:r>
          </a:p>
        </p:txBody>
      </p:sp>
      <p:sp>
        <p:nvSpPr>
          <p:cNvPr id="947" name="TextBox 16"/>
          <p:cNvSpPr txBox="1"/>
          <p:nvPr/>
        </p:nvSpPr>
        <p:spPr>
          <a:xfrm>
            <a:off x="1280159" y="4370832"/>
            <a:ext cx="758952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Latency, throughput, error rate, token usage</a:t>
            </a:r>
          </a:p>
        </p:txBody>
      </p:sp>
      <p:sp>
        <p:nvSpPr>
          <p:cNvPr id="948" name="Rectangle 17"/>
          <p:cNvSpPr/>
          <p:nvPr/>
        </p:nvSpPr>
        <p:spPr>
          <a:xfrm>
            <a:off x="9418318" y="3657600"/>
            <a:ext cx="7955280" cy="1828800"/>
          </a:xfrm>
          <a:prstGeom prst="rect">
            <a:avLst/>
          </a:prstGeom>
          <a:solidFill>
            <a:srgbClr val="1A2B3C"/>
          </a:solidFill>
          <a:ln w="25400">
            <a:solidFill>
              <a:srgbClr val="81C7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TextBox 18"/>
          <p:cNvSpPr txBox="1"/>
          <p:nvPr/>
        </p:nvSpPr>
        <p:spPr>
          <a:xfrm>
            <a:off x="9601200" y="3822191"/>
            <a:ext cx="758952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2000">
                <a:solidFill>
                  <a:srgbClr val="81C78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📝 Logging</a:t>
            </a:r>
          </a:p>
        </p:txBody>
      </p:sp>
      <p:sp>
        <p:nvSpPr>
          <p:cNvPr id="950" name="TextBox 19"/>
          <p:cNvSpPr txBox="1"/>
          <p:nvPr/>
        </p:nvSpPr>
        <p:spPr>
          <a:xfrm>
            <a:off x="9601200" y="4370832"/>
            <a:ext cx="7589520" cy="349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Structured logs → Loki / Datadog / CloudWatch</a:t>
            </a:r>
          </a:p>
        </p:txBody>
      </p:sp>
      <p:sp>
        <p:nvSpPr>
          <p:cNvPr id="951" name="Rectangle 20"/>
          <p:cNvSpPr/>
          <p:nvPr/>
        </p:nvSpPr>
        <p:spPr>
          <a:xfrm>
            <a:off x="1097280" y="5806440"/>
            <a:ext cx="7955279" cy="1828801"/>
          </a:xfrm>
          <a:prstGeom prst="rect">
            <a:avLst/>
          </a:prstGeom>
          <a:solidFill>
            <a:srgbClr val="1A2B3C"/>
          </a:solidFill>
          <a:ln w="25400">
            <a:solidFill>
              <a:srgbClr val="FFB74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2" name="TextBox 21"/>
          <p:cNvSpPr txBox="1"/>
          <p:nvPr/>
        </p:nvSpPr>
        <p:spPr>
          <a:xfrm>
            <a:off x="1280159" y="5971030"/>
            <a:ext cx="758952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20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🔍 Tracing</a:t>
            </a:r>
          </a:p>
        </p:txBody>
      </p:sp>
      <p:sp>
        <p:nvSpPr>
          <p:cNvPr id="953" name="TextBox 22"/>
          <p:cNvSpPr txBox="1"/>
          <p:nvPr/>
        </p:nvSpPr>
        <p:spPr>
          <a:xfrm>
            <a:off x="1280159" y="6519671"/>
            <a:ext cx="758952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LangSmith / Langfuse cho LLM traces</a:t>
            </a:r>
          </a:p>
        </p:txBody>
      </p:sp>
      <p:sp>
        <p:nvSpPr>
          <p:cNvPr id="954" name="Rectangle 23"/>
          <p:cNvSpPr/>
          <p:nvPr/>
        </p:nvSpPr>
        <p:spPr>
          <a:xfrm>
            <a:off x="9418318" y="5806440"/>
            <a:ext cx="7955280" cy="1828801"/>
          </a:xfrm>
          <a:prstGeom prst="rect">
            <a:avLst/>
          </a:prstGeom>
          <a:solidFill>
            <a:srgbClr val="1A2B3C"/>
          </a:solidFill>
          <a:ln w="25400">
            <a:solidFill>
              <a:srgbClr val="EF535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5" name="TextBox 24"/>
          <p:cNvSpPr txBox="1"/>
          <p:nvPr/>
        </p:nvSpPr>
        <p:spPr>
          <a:xfrm>
            <a:off x="9601200" y="5971030"/>
            <a:ext cx="758952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b="1" sz="2000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🚨 Alerting</a:t>
            </a:r>
          </a:p>
        </p:txBody>
      </p:sp>
      <p:sp>
        <p:nvSpPr>
          <p:cNvPr id="956" name="TextBox 25"/>
          <p:cNvSpPr txBox="1"/>
          <p:nvPr/>
        </p:nvSpPr>
        <p:spPr>
          <a:xfrm>
            <a:off x="9601200" y="6519671"/>
            <a:ext cx="758952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FE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PagerDuty / Slack alert khi anomaly detected</a:t>
            </a:r>
          </a:p>
        </p:txBody>
      </p:sp>
      <p:sp>
        <p:nvSpPr>
          <p:cNvPr id="957" name="TextBox 26"/>
          <p:cNvSpPr txBox="1"/>
          <p:nvPr/>
        </p:nvSpPr>
        <p:spPr>
          <a:xfrm>
            <a:off x="1142999" y="7882126"/>
            <a:ext cx="1600200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4998"/>
              </a:lnSpc>
              <a:defRPr sz="1700">
                <a:solidFill>
                  <a:srgbClr val="FFB7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Chuẩn bị: Đọc LangSmith hoặc Langfuse quickstart (20 phút) trước buổi sau.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0" name="Freeform 3"/>
          <p:cNvSpPr/>
          <p:nvPr/>
        </p:nvSpPr>
        <p:spPr>
          <a:xfrm>
            <a:off x="2091256" y="2447814"/>
            <a:ext cx="15876431" cy="539137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1" name="Freeform 4"/>
          <p:cNvSpPr/>
          <p:nvPr/>
        </p:nvSpPr>
        <p:spPr>
          <a:xfrm>
            <a:off x="0" y="0"/>
            <a:ext cx="18288000" cy="44958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2" name="Freeform 5"/>
          <p:cNvSpPr/>
          <p:nvPr/>
        </p:nvSpPr>
        <p:spPr>
          <a:xfrm>
            <a:off x="0" y="-342900"/>
            <a:ext cx="18288000" cy="109728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3" name="Freeform 6"/>
          <p:cNvSpPr/>
          <p:nvPr/>
        </p:nvSpPr>
        <p:spPr>
          <a:xfrm>
            <a:off x="1361004" y="791744"/>
            <a:ext cx="15565992" cy="9495257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4" name="Freeform 8"/>
          <p:cNvSpPr/>
          <p:nvPr/>
        </p:nvSpPr>
        <p:spPr>
          <a:xfrm>
            <a:off x="9562051" y="1028700"/>
            <a:ext cx="1425174" cy="855105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5" name="Freeform 10"/>
          <p:cNvSpPr/>
          <p:nvPr/>
        </p:nvSpPr>
        <p:spPr>
          <a:xfrm>
            <a:off x="7300776" y="1028700"/>
            <a:ext cx="1482181" cy="893109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6" name="TextBox 12"/>
          <p:cNvSpPr txBox="1"/>
          <p:nvPr/>
        </p:nvSpPr>
        <p:spPr>
          <a:xfrm>
            <a:off x="4035693" y="3643315"/>
            <a:ext cx="1051560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20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Từ hôm nay, agent không còn chỉ chạy trên máy bạn.</a:t>
            </a:r>
          </a:p>
        </p:txBody>
      </p:sp>
      <p:sp>
        <p:nvSpPr>
          <p:cNvPr id="967" name="TextBox 13"/>
          <p:cNvSpPr txBox="1"/>
          <p:nvPr/>
        </p:nvSpPr>
        <p:spPr>
          <a:xfrm>
            <a:off x="4035693" y="4100514"/>
            <a:ext cx="1051560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b="1" sz="2200">
                <a:solidFill>
                  <a:srgbClr val="4FC3F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Nó đã là một service thật sự.</a:t>
            </a:r>
          </a:p>
        </p:txBody>
      </p:sp>
      <p:sp>
        <p:nvSpPr>
          <p:cNvPr id="968" name="TextBox 14"/>
          <p:cNvSpPr txBox="1"/>
          <p:nvPr/>
        </p:nvSpPr>
        <p:spPr>
          <a:xfrm>
            <a:off x="5224413" y="4832035"/>
            <a:ext cx="8138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14998"/>
              </a:lnSpc>
              <a:defRPr sz="1500">
                <a:solidFill>
                  <a:srgbClr val="B0BEC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/>
            <a:r>
              <a:t>AICB-P1  ·  Ngày 12  ·  VinUniversity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